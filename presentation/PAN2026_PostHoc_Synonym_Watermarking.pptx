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0" name="Google Shape;21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1" name="Google Shape;28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0" name="Google Shape;31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6" name="Google Shape;34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1" name="Google Shape;54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jpg"/><Relationship Id="rId5" Type="http://schemas.openxmlformats.org/officeDocument/2006/relationships/image" Target="../media/image10.png"/><Relationship Id="rId10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-12" y="1967573"/>
            <a:ext cx="1219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22C3FF"/>
                </a:solidFill>
                <a:latin typeface="Arial"/>
                <a:ea typeface="Arial"/>
                <a:cs typeface="Arial"/>
                <a:sym typeface="Arial"/>
              </a:rPr>
              <a:t>TEXT WATERMARKING  · PAN TASK 3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200" y="228607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Post-Hoc Synonym Watermarking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374800" y="3063632"/>
            <a:ext cx="9448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E0F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D5E0F0"/>
                </a:solidFill>
                <a:latin typeface="Arial"/>
                <a:ea typeface="Arial"/>
                <a:cs typeface="Arial"/>
                <a:sym typeface="Arial"/>
              </a:rPr>
              <a:t>Dual-Key Type-Level Detection, and the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E0F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D5E0F0"/>
                </a:solidFill>
                <a:latin typeface="Arial"/>
                <a:ea typeface="Arial"/>
                <a:cs typeface="Arial"/>
                <a:sym typeface="Arial"/>
              </a:rPr>
              <a:t>precision–robustness trade-off it reveals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3200" y="4753973"/>
            <a:ext cx="1219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Momen Ibrahim  ·  Nagwa El-Makky  ·  Marwan Torki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3200" y="5165283"/>
            <a:ext cx="1219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3D0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Alexandria University, Egypt      |      Team </a:t>
            </a:r>
            <a:r>
              <a:rPr lang="en-US" sz="1200" b="0" i="0" u="none" strike="noStrike" cap="none" dirty="0" err="1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aimoment</a:t>
            </a:r>
            <a:r>
              <a:rPr lang="en-US" sz="1200" b="0" i="0" u="none" strike="noStrike" cap="none" dirty="0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      |      CLEF 2026, Jena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914400" y="5849990"/>
            <a:ext cx="1036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300"/>
              <a:buFont typeface="Arial"/>
              <a:buNone/>
            </a:pPr>
            <a:r>
              <a:rPr lang="en-US" sz="1300" b="1" dirty="0">
                <a:solidFill>
                  <a:srgbClr val="22C3FF"/>
                </a:solidFill>
              </a:rPr>
              <a:t>Rank #2 of 8 teams · </a:t>
            </a:r>
            <a:r>
              <a:rPr lang="en-US" sz="1300" b="1" i="0" u="none" strike="noStrike" cap="none" dirty="0">
                <a:solidFill>
                  <a:srgbClr val="22C3FF"/>
                </a:solidFill>
                <a:latin typeface="Arial"/>
                <a:ea typeface="Arial"/>
                <a:cs typeface="Arial"/>
                <a:sym typeface="Arial"/>
              </a:rPr>
              <a:t>Best spot-check TWF 0.971 (dual-key)  ·  Best official TWF 0.775 (single-key) — a trade-off story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title="clef26-logo-d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225" y="429175"/>
            <a:ext cx="2270577" cy="119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5262" y="1286180"/>
            <a:ext cx="1661150" cy="49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 title="alexandria-university-logo-png_seeklogo-558014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47174" y="259075"/>
            <a:ext cx="1661160" cy="1661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5;p3">
            <a:extLst>
              <a:ext uri="{FF2B5EF4-FFF2-40B4-BE49-F238E27FC236}">
                <a16:creationId xmlns:a16="http://schemas.microsoft.com/office/drawing/2014/main" id="{46A07FE8-B275-C9EC-E814-69390D14A99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35373" b="30384"/>
          <a:stretch/>
        </p:blipFill>
        <p:spPr>
          <a:xfrm>
            <a:off x="4220388" y="4013250"/>
            <a:ext cx="3750902" cy="5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THE TASK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Post-hoc watermarking under attack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457200" y="15544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Embed an invisible, detectable signal into pre-existing human EU-Parliament speeches — not during generation. Survive an automated obfuscation attack, then detect the watermark.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26A7F-F930-FC19-0FC6-9C838E315F0B}"/>
              </a:ext>
            </a:extLst>
          </p:cNvPr>
          <p:cNvGrpSpPr/>
          <p:nvPr/>
        </p:nvGrpSpPr>
        <p:grpSpPr>
          <a:xfrm>
            <a:off x="457200" y="2423160"/>
            <a:ext cx="2606040" cy="1463040"/>
            <a:chOff x="457200" y="2423160"/>
            <a:chExt cx="2606040" cy="1463040"/>
          </a:xfrm>
        </p:grpSpPr>
        <p:sp>
          <p:nvSpPr>
            <p:cNvPr id="36" name="Google Shape;36;p4"/>
            <p:cNvSpPr/>
            <p:nvPr/>
          </p:nvSpPr>
          <p:spPr>
            <a:xfrm>
              <a:off x="457200" y="2423160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444752" y="2633472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" name="Google Shape;38;p4" descr="icon_type_1E6B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75328" y="2764048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4"/>
            <p:cNvSpPr txBox="1"/>
            <p:nvPr/>
          </p:nvSpPr>
          <p:spPr>
            <a:xfrm>
              <a:off x="457200" y="329184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Original text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457200" y="3602736"/>
              <a:ext cx="2606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150"/>
                <a:buFont typeface="Calibri"/>
                <a:buNone/>
              </a:pPr>
              <a:r>
                <a:rPr lang="en-US" sz="11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Human EU speech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" name="Google Shape;41;p4" descr="icon_arrowRight_1E6B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61176" y="2999232"/>
            <a:ext cx="320040" cy="320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F90F4BB-BF8F-D21D-0D4E-75B91D2EC9F7}"/>
              </a:ext>
            </a:extLst>
          </p:cNvPr>
          <p:cNvGrpSpPr/>
          <p:nvPr/>
        </p:nvGrpSpPr>
        <p:grpSpPr>
          <a:xfrm>
            <a:off x="3310128" y="2423160"/>
            <a:ext cx="2606040" cy="1463040"/>
            <a:chOff x="3310128" y="2423160"/>
            <a:chExt cx="2606040" cy="1463040"/>
          </a:xfrm>
        </p:grpSpPr>
        <p:sp>
          <p:nvSpPr>
            <p:cNvPr id="42" name="Google Shape;42;p4"/>
            <p:cNvSpPr/>
            <p:nvPr/>
          </p:nvSpPr>
          <p:spPr>
            <a:xfrm>
              <a:off x="3310128" y="2423160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4297680" y="2633472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4" name="Google Shape;44;p4" descr="icon_key_1E6B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428256" y="2764048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4"/>
            <p:cNvSpPr txBox="1"/>
            <p:nvPr/>
          </p:nvSpPr>
          <p:spPr>
            <a:xfrm>
              <a:off x="3310128" y="329184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Embed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4"/>
            <p:cNvSpPr txBox="1"/>
            <p:nvPr/>
          </p:nvSpPr>
          <p:spPr>
            <a:xfrm>
              <a:off x="3310128" y="3602736"/>
              <a:ext cx="2606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150"/>
                <a:buFont typeface="Calibri"/>
                <a:buNone/>
              </a:pPr>
              <a:r>
                <a:rPr lang="en-US" sz="11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Hidden watermark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" name="Google Shape;47;p4" descr="icon_arrowRight_1E6B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4272" y="2999232"/>
            <a:ext cx="320040" cy="320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0F45914-5C8F-2A75-5A0F-04C4E325DAD0}"/>
              </a:ext>
            </a:extLst>
          </p:cNvPr>
          <p:cNvGrpSpPr/>
          <p:nvPr/>
        </p:nvGrpSpPr>
        <p:grpSpPr>
          <a:xfrm>
            <a:off x="6163056" y="2423160"/>
            <a:ext cx="2606040" cy="1463040"/>
            <a:chOff x="6163056" y="2423160"/>
            <a:chExt cx="2606040" cy="1463040"/>
          </a:xfrm>
        </p:grpSpPr>
        <p:sp>
          <p:nvSpPr>
            <p:cNvPr id="48" name="Google Shape;48;p4"/>
            <p:cNvSpPr/>
            <p:nvPr/>
          </p:nvSpPr>
          <p:spPr>
            <a:xfrm>
              <a:off x="6163056" y="2423160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9050" cap="flat" cmpd="sng">
              <a:solidFill>
                <a:srgbClr val="D6454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150608" y="2633472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FD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0" name="Google Shape;50;p4" descr="icon_shuffle_D64545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281184" y="2764048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4"/>
            <p:cNvSpPr txBox="1"/>
            <p:nvPr/>
          </p:nvSpPr>
          <p:spPr>
            <a:xfrm>
              <a:off x="6163056" y="329184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Attack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 txBox="1"/>
            <p:nvPr/>
          </p:nvSpPr>
          <p:spPr>
            <a:xfrm>
              <a:off x="6163056" y="3602736"/>
              <a:ext cx="2606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D64545"/>
                </a:buClr>
                <a:buSzPts val="1150"/>
                <a:buFont typeface="Calibri"/>
                <a:buNone/>
              </a:pPr>
              <a:r>
                <a:rPr lang="en-US" sz="1150" b="0" i="0" u="none" strike="noStrike" cap="none">
                  <a:solidFill>
                    <a:srgbClr val="D64545"/>
                  </a:solidFill>
                  <a:latin typeface="Calibri"/>
                  <a:ea typeface="Calibri"/>
                  <a:cs typeface="Calibri"/>
                  <a:sym typeface="Calibri"/>
                </a:rPr>
                <a:t>TIRA obfuscation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" name="Google Shape;53;p4" descr="icon_arrowRight_1E6B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7032" y="2999232"/>
            <a:ext cx="320040" cy="320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3D31BBF-A0F7-8EF3-D4FC-9D12DF156C93}"/>
              </a:ext>
            </a:extLst>
          </p:cNvPr>
          <p:cNvGrpSpPr/>
          <p:nvPr/>
        </p:nvGrpSpPr>
        <p:grpSpPr>
          <a:xfrm>
            <a:off x="9015984" y="2423160"/>
            <a:ext cx="2606040" cy="1463040"/>
            <a:chOff x="9015984" y="2423160"/>
            <a:chExt cx="2606040" cy="1463040"/>
          </a:xfrm>
        </p:grpSpPr>
        <p:sp>
          <p:nvSpPr>
            <p:cNvPr id="54" name="Google Shape;54;p4"/>
            <p:cNvSpPr/>
            <p:nvPr/>
          </p:nvSpPr>
          <p:spPr>
            <a:xfrm>
              <a:off x="9015984" y="2423160"/>
              <a:ext cx="2606040" cy="146304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0003536" y="2633472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6" name="Google Shape;56;p4" descr="icon_eye_1E6BFF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0134112" y="2764048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4"/>
            <p:cNvSpPr txBox="1"/>
            <p:nvPr/>
          </p:nvSpPr>
          <p:spPr>
            <a:xfrm>
              <a:off x="9015984" y="3291840"/>
              <a:ext cx="2606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Detect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 txBox="1"/>
            <p:nvPr/>
          </p:nvSpPr>
          <p:spPr>
            <a:xfrm>
              <a:off x="9015984" y="3602736"/>
              <a:ext cx="26060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150"/>
                <a:buFont typeface="Calibri"/>
                <a:buNone/>
              </a:pPr>
              <a:r>
                <a:rPr lang="en-US" sz="11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Watermark or not?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4"/>
          <p:cNvSpPr/>
          <p:nvPr/>
        </p:nvSpPr>
        <p:spPr>
          <a:xfrm>
            <a:off x="457200" y="4206240"/>
            <a:ext cx="11274552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C3FF"/>
                </a:solidFill>
                <a:latin typeface="Arial"/>
                <a:ea typeface="Arial"/>
                <a:cs typeface="Arial"/>
                <a:sym typeface="Arial"/>
              </a:rPr>
              <a:t>THE METRIC — Text Watermarking Fidelity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31520" y="47548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TWF  =  max(BLEU, BERTScore)  ×  Balanced Accuracy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31520" y="528523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3D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Fidelity — how little the text changed          ×          Detection — did we get it right, penalising misses &amp; false alarms equally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4" title="Screenshot_20260920_132435_GitHub.jpg"/>
          <p:cNvPicPr preferRelativeResize="0"/>
          <p:nvPr/>
        </p:nvPicPr>
        <p:blipFill rotWithShape="1">
          <a:blip r:embed="rId10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/>
      <p:bldP spid="61" grpId="0"/>
      <p:bldP spid="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5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548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822960" y="5486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2C3FF"/>
                </a:solidFill>
                <a:latin typeface="Arial"/>
                <a:ea typeface="Arial"/>
                <a:cs typeface="Arial"/>
                <a:sym typeface="Arial"/>
              </a:rPr>
              <a:t>THE CORE CHALLENGE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three-way tension — sharpened by attack.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457200" y="19202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C4D6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Post-hoc watermarking must satisfy three goals at once — and an obfuscation attack that removes part of the signal makes the balance harder.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1D5414-BF9C-0CE5-58C0-F6C1B74B7149}"/>
              </a:ext>
            </a:extLst>
          </p:cNvPr>
          <p:cNvGrpSpPr/>
          <p:nvPr/>
        </p:nvGrpSpPr>
        <p:grpSpPr>
          <a:xfrm>
            <a:off x="731520" y="2880360"/>
            <a:ext cx="3383280" cy="2331720"/>
            <a:chOff x="731520" y="2880360"/>
            <a:chExt cx="3383280" cy="2331720"/>
          </a:xfrm>
        </p:grpSpPr>
        <p:sp>
          <p:nvSpPr>
            <p:cNvPr id="75" name="Google Shape;75;p5"/>
            <p:cNvSpPr/>
            <p:nvPr/>
          </p:nvSpPr>
          <p:spPr>
            <a:xfrm>
              <a:off x="731520" y="2880360"/>
              <a:ext cx="3383280" cy="2331720"/>
            </a:xfrm>
            <a:prstGeom prst="roundRect">
              <a:avLst>
                <a:gd name="adj" fmla="val 4706"/>
              </a:avLst>
            </a:prstGeom>
            <a:solidFill>
              <a:srgbClr val="12203A"/>
            </a:solidFill>
            <a:ln w="12700" cap="flat" cmpd="sng">
              <a:solidFill>
                <a:srgbClr val="264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1965960" y="3200400"/>
              <a:ext cx="914400" cy="914400"/>
            </a:xfrm>
            <a:prstGeom prst="roundRect">
              <a:avLst>
                <a:gd name="adj" fmla="val 14000"/>
              </a:avLst>
            </a:prstGeom>
            <a:solidFill>
              <a:srgbClr val="1B2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7" name="Google Shape;77;p5" descr="icon_trending_FFFF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57984" y="3392424"/>
              <a:ext cx="530352" cy="530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5"/>
            <p:cNvSpPr txBox="1"/>
            <p:nvPr/>
          </p:nvSpPr>
          <p:spPr>
            <a:xfrm>
              <a:off x="731520" y="4206240"/>
              <a:ext cx="33832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 TP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5"/>
            <p:cNvSpPr txBox="1"/>
            <p:nvPr/>
          </p:nvSpPr>
          <p:spPr>
            <a:xfrm>
              <a:off x="960120" y="4663440"/>
              <a:ext cx="29260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C4D6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B8C4D6"/>
                  </a:solidFill>
                  <a:latin typeface="Calibri"/>
                  <a:ea typeface="Calibri"/>
                  <a:cs typeface="Calibri"/>
                  <a:sym typeface="Calibri"/>
                </a:rPr>
                <a:t>Detect the watermark reliably, even after attack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8618C60-AAD6-C903-F550-66E87D6ACAC6}"/>
              </a:ext>
            </a:extLst>
          </p:cNvPr>
          <p:cNvGrpSpPr/>
          <p:nvPr/>
        </p:nvGrpSpPr>
        <p:grpSpPr>
          <a:xfrm>
            <a:off x="4389120" y="2880360"/>
            <a:ext cx="3383280" cy="2331720"/>
            <a:chOff x="4389120" y="2880360"/>
            <a:chExt cx="3383280" cy="2331720"/>
          </a:xfrm>
        </p:grpSpPr>
        <p:sp>
          <p:nvSpPr>
            <p:cNvPr id="80" name="Google Shape;80;p5"/>
            <p:cNvSpPr/>
            <p:nvPr/>
          </p:nvSpPr>
          <p:spPr>
            <a:xfrm>
              <a:off x="4389120" y="2880360"/>
              <a:ext cx="3383280" cy="2331720"/>
            </a:xfrm>
            <a:prstGeom prst="roundRect">
              <a:avLst>
                <a:gd name="adj" fmla="val 4706"/>
              </a:avLst>
            </a:prstGeom>
            <a:solidFill>
              <a:srgbClr val="12203A"/>
            </a:solidFill>
            <a:ln w="12700" cap="flat" cmpd="sng">
              <a:solidFill>
                <a:srgbClr val="264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5623560" y="3200400"/>
              <a:ext cx="914400" cy="914400"/>
            </a:xfrm>
            <a:prstGeom prst="roundRect">
              <a:avLst>
                <a:gd name="adj" fmla="val 14000"/>
              </a:avLst>
            </a:prstGeom>
            <a:solidFill>
              <a:srgbClr val="1B2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2" name="Google Shape;82;p5" descr="icon_shield_FFFFFF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5584" y="3392424"/>
              <a:ext cx="530352" cy="530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5"/>
            <p:cNvSpPr txBox="1"/>
            <p:nvPr/>
          </p:nvSpPr>
          <p:spPr>
            <a:xfrm>
              <a:off x="4389120" y="4206240"/>
              <a:ext cx="33832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Near-zero FP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5"/>
            <p:cNvSpPr txBox="1"/>
            <p:nvPr/>
          </p:nvSpPr>
          <p:spPr>
            <a:xfrm>
              <a:off x="4617720" y="4663440"/>
              <a:ext cx="29260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C4D6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B8C4D6"/>
                  </a:solidFill>
                  <a:latin typeface="Calibri"/>
                  <a:ea typeface="Calibri"/>
                  <a:cs typeface="Calibri"/>
                  <a:sym typeface="Calibri"/>
                </a:rPr>
                <a:t>Never flag an un-watermarked original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6597C76-EEA8-A47A-63A2-2429AC3EABFD}"/>
              </a:ext>
            </a:extLst>
          </p:cNvPr>
          <p:cNvGrpSpPr/>
          <p:nvPr/>
        </p:nvGrpSpPr>
        <p:grpSpPr>
          <a:xfrm>
            <a:off x="8046720" y="2880360"/>
            <a:ext cx="3383280" cy="2331720"/>
            <a:chOff x="8046720" y="2880360"/>
            <a:chExt cx="3383280" cy="2331720"/>
          </a:xfrm>
        </p:grpSpPr>
        <p:sp>
          <p:nvSpPr>
            <p:cNvPr id="85" name="Google Shape;85;p5"/>
            <p:cNvSpPr/>
            <p:nvPr/>
          </p:nvSpPr>
          <p:spPr>
            <a:xfrm>
              <a:off x="8046720" y="2880360"/>
              <a:ext cx="3383280" cy="2331720"/>
            </a:xfrm>
            <a:prstGeom prst="roundRect">
              <a:avLst>
                <a:gd name="adj" fmla="val 4706"/>
              </a:avLst>
            </a:prstGeom>
            <a:solidFill>
              <a:srgbClr val="12203A"/>
            </a:solidFill>
            <a:ln w="12700" cap="flat" cmpd="sng">
              <a:solidFill>
                <a:srgbClr val="264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9281160" y="3200400"/>
              <a:ext cx="914400" cy="914400"/>
            </a:xfrm>
            <a:prstGeom prst="roundRect">
              <a:avLst>
                <a:gd name="adj" fmla="val 14000"/>
              </a:avLst>
            </a:prstGeom>
            <a:solidFill>
              <a:srgbClr val="1B2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" name="Google Shape;87;p5" descr="icon_feather_FFFF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73184" y="3392424"/>
              <a:ext cx="530352" cy="530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5"/>
            <p:cNvSpPr txBox="1"/>
            <p:nvPr/>
          </p:nvSpPr>
          <p:spPr>
            <a:xfrm>
              <a:off x="8046720" y="4206240"/>
              <a:ext cx="33832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None/>
              </a:pPr>
              <a:r>
                <a:rPr lang="en-US" sz="19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Semantic fidelity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 txBox="1"/>
            <p:nvPr/>
          </p:nvSpPr>
          <p:spPr>
            <a:xfrm>
              <a:off x="8275320" y="4663440"/>
              <a:ext cx="292608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C4D6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B8C4D6"/>
                  </a:solidFill>
                  <a:latin typeface="Calibri"/>
                  <a:ea typeface="Calibri"/>
                  <a:cs typeface="Calibri"/>
                  <a:sym typeface="Calibri"/>
                </a:rPr>
                <a:t>Preserve the original meaning &amp; wording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5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5"/>
          <p:cNvPicPr preferRelativeResize="0"/>
          <p:nvPr/>
        </p:nvPicPr>
        <p:blipFill rotWithShape="1">
          <a:blip r:embed="rId8">
            <a:alphaModFix/>
          </a:blip>
          <a:srcRect t="35373" b="30384"/>
          <a:stretch/>
        </p:blipFill>
        <p:spPr>
          <a:xfrm>
            <a:off x="9281151" y="137175"/>
            <a:ext cx="2713196" cy="4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/>
          <p:nvPr/>
        </p:nvSpPr>
        <p:spPr>
          <a:xfrm>
            <a:off x="822960" y="201168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2000"/>
              <a:buFont typeface="Arial"/>
              <a:buNone/>
            </a:pPr>
            <a:r>
              <a:rPr lang="en-US" sz="12000" b="1" i="0" u="none" strike="noStrike" cap="none" dirty="0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 descr="chevro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7640" y="2788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 txBox="1"/>
          <p:nvPr/>
        </p:nvSpPr>
        <p:spPr>
          <a:xfrm>
            <a:off x="4754880" y="246888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4773168" y="3310128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3D0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Cryptographic partitioning, synonym substitution, type-level detection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6"/>
          <p:cNvPicPr preferRelativeResize="0"/>
          <p:nvPr/>
        </p:nvPicPr>
        <p:blipFill rotWithShape="1">
          <a:blip r:embed="rId5">
            <a:alphaModFix/>
          </a:blip>
          <a:srcRect t="35373" b="30384"/>
          <a:stretch/>
        </p:blipFill>
        <p:spPr>
          <a:xfrm>
            <a:off x="9281151" y="137175"/>
            <a:ext cx="2713196" cy="4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0;p5">
            <a:extLst>
              <a:ext uri="{FF2B5EF4-FFF2-40B4-BE49-F238E27FC236}">
                <a16:creationId xmlns:a16="http://schemas.microsoft.com/office/drawing/2014/main" id="{2A531FFA-6428-7EFA-A357-8C397E807E74}"/>
              </a:ext>
            </a:extLst>
          </p:cNvPr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0" grpId="0"/>
      <p:bldP spid="10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7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THE PRIMITIVE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Green / red vocabulary via HMAC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57200" y="15544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secret key deterministically splits the English vocabulary into green and red word types. We globally replace red words with green synonyms — pushing the green fraction up in a detectable, key-specific way.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237744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457200" y="2377440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450"/>
              <a:buFont typeface="Consolas"/>
              <a:buNone/>
            </a:pPr>
            <a:r>
              <a:rPr lang="en-US" sz="1450" b="1" i="0" u="none" strike="noStrike" cap="none">
                <a:solidFill>
                  <a:srgbClr val="22C3FF"/>
                </a:solidFill>
                <a:latin typeface="Consolas"/>
                <a:ea typeface="Consolas"/>
                <a:cs typeface="Consolas"/>
                <a:sym typeface="Consolas"/>
              </a:rPr>
              <a:t>bit(w; K)  =  HMAC-SHA256(K, w)  mod 2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57200" y="33101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bit = 1 → green    ·    bit = 0 → red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309360" y="233172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Example substitution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3A0375-C6B1-1D3B-35E8-AE3CECFCE489}"/>
              </a:ext>
            </a:extLst>
          </p:cNvPr>
          <p:cNvGrpSpPr/>
          <p:nvPr/>
        </p:nvGrpSpPr>
        <p:grpSpPr>
          <a:xfrm>
            <a:off x="6309360" y="2743200"/>
            <a:ext cx="2103120" cy="438912"/>
            <a:chOff x="6309360" y="2743200"/>
            <a:chExt cx="2103120" cy="438912"/>
          </a:xfrm>
        </p:grpSpPr>
        <p:sp>
          <p:nvSpPr>
            <p:cNvPr id="119" name="Google Shape;119;p7"/>
            <p:cNvSpPr/>
            <p:nvPr/>
          </p:nvSpPr>
          <p:spPr>
            <a:xfrm>
              <a:off x="6309360" y="274320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FDECEC"/>
            </a:solidFill>
            <a:ln w="12700" cap="flat" cmpd="sng">
              <a:solidFill>
                <a:srgbClr val="D6454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 txBox="1"/>
            <p:nvPr/>
          </p:nvSpPr>
          <p:spPr>
            <a:xfrm>
              <a:off x="6309360" y="274320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D64545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 dirty="0">
                  <a:solidFill>
                    <a:srgbClr val="D64545"/>
                  </a:solidFill>
                  <a:latin typeface="Consolas"/>
                  <a:ea typeface="Consolas"/>
                  <a:cs typeface="Consolas"/>
                  <a:sym typeface="Consolas"/>
                </a:rPr>
                <a:t>important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1" name="Google Shape;121;p7" descr="icon_arrowRight_1E6B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5632" y="2807208"/>
            <a:ext cx="310896" cy="310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A56A20F-2783-A8CA-82CD-6C706C83BA07}"/>
              </a:ext>
            </a:extLst>
          </p:cNvPr>
          <p:cNvGrpSpPr/>
          <p:nvPr/>
        </p:nvGrpSpPr>
        <p:grpSpPr>
          <a:xfrm>
            <a:off x="8915400" y="2743200"/>
            <a:ext cx="2103120" cy="438912"/>
            <a:chOff x="8915400" y="2743200"/>
            <a:chExt cx="2103120" cy="438912"/>
          </a:xfrm>
        </p:grpSpPr>
        <p:sp>
          <p:nvSpPr>
            <p:cNvPr id="122" name="Google Shape;122;p7"/>
            <p:cNvSpPr/>
            <p:nvPr/>
          </p:nvSpPr>
          <p:spPr>
            <a:xfrm>
              <a:off x="8915400" y="274320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E6F6EC"/>
            </a:solidFill>
            <a:ln w="12700" cap="flat" cmpd="sng">
              <a:solidFill>
                <a:srgbClr val="1E9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 txBox="1"/>
            <p:nvPr/>
          </p:nvSpPr>
          <p:spPr>
            <a:xfrm>
              <a:off x="8915400" y="274320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>
                  <a:solidFill>
                    <a:srgbClr val="1E9E5A"/>
                  </a:solidFill>
                  <a:latin typeface="Consolas"/>
                  <a:ea typeface="Consolas"/>
                  <a:cs typeface="Consolas"/>
                  <a:sym typeface="Consolas"/>
                </a:rPr>
                <a:t>significant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4D73BB9-0E13-17A8-EB44-727656FDC308}"/>
              </a:ext>
            </a:extLst>
          </p:cNvPr>
          <p:cNvGrpSpPr/>
          <p:nvPr/>
        </p:nvGrpSpPr>
        <p:grpSpPr>
          <a:xfrm>
            <a:off x="6309360" y="3291840"/>
            <a:ext cx="2103120" cy="438912"/>
            <a:chOff x="6309360" y="3291840"/>
            <a:chExt cx="2103120" cy="438912"/>
          </a:xfrm>
        </p:grpSpPr>
        <p:sp>
          <p:nvSpPr>
            <p:cNvPr id="124" name="Google Shape;124;p7"/>
            <p:cNvSpPr/>
            <p:nvPr/>
          </p:nvSpPr>
          <p:spPr>
            <a:xfrm>
              <a:off x="6309360" y="329184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FDECEC"/>
            </a:solidFill>
            <a:ln w="12700" cap="flat" cmpd="sng">
              <a:solidFill>
                <a:srgbClr val="D6454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6309360" y="329184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D64545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 dirty="0">
                  <a:solidFill>
                    <a:srgbClr val="D64545"/>
                  </a:solidFill>
                  <a:latin typeface="Consolas"/>
                  <a:ea typeface="Consolas"/>
                  <a:cs typeface="Consolas"/>
                  <a:sym typeface="Consolas"/>
                </a:rPr>
                <a:t>problem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6" name="Google Shape;126;p7" descr="icon_arrowRight_1E6B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5632" y="3355848"/>
            <a:ext cx="310896" cy="310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1F1A635-F0DD-734F-2D35-86678A427D50}"/>
              </a:ext>
            </a:extLst>
          </p:cNvPr>
          <p:cNvGrpSpPr/>
          <p:nvPr/>
        </p:nvGrpSpPr>
        <p:grpSpPr>
          <a:xfrm>
            <a:off x="8915400" y="3291840"/>
            <a:ext cx="2103120" cy="438912"/>
            <a:chOff x="8915400" y="3291840"/>
            <a:chExt cx="2103120" cy="438912"/>
          </a:xfrm>
        </p:grpSpPr>
        <p:sp>
          <p:nvSpPr>
            <p:cNvPr id="127" name="Google Shape;127;p7"/>
            <p:cNvSpPr/>
            <p:nvPr/>
          </p:nvSpPr>
          <p:spPr>
            <a:xfrm>
              <a:off x="8915400" y="329184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E6F6EC"/>
            </a:solidFill>
            <a:ln w="12700" cap="flat" cmpd="sng">
              <a:solidFill>
                <a:srgbClr val="1E9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8915400" y="329184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>
                  <a:solidFill>
                    <a:srgbClr val="1E9E5A"/>
                  </a:solidFill>
                  <a:latin typeface="Consolas"/>
                  <a:ea typeface="Consolas"/>
                  <a:cs typeface="Consolas"/>
                  <a:sym typeface="Consolas"/>
                </a:rPr>
                <a:t>issue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01CEC41-B4BD-6198-55A7-FB6276DB86C5}"/>
              </a:ext>
            </a:extLst>
          </p:cNvPr>
          <p:cNvGrpSpPr/>
          <p:nvPr/>
        </p:nvGrpSpPr>
        <p:grpSpPr>
          <a:xfrm>
            <a:off x="6309360" y="3840480"/>
            <a:ext cx="2103120" cy="438912"/>
            <a:chOff x="6309360" y="3840480"/>
            <a:chExt cx="2103120" cy="438912"/>
          </a:xfrm>
        </p:grpSpPr>
        <p:sp>
          <p:nvSpPr>
            <p:cNvPr id="129" name="Google Shape;129;p7"/>
            <p:cNvSpPr/>
            <p:nvPr/>
          </p:nvSpPr>
          <p:spPr>
            <a:xfrm>
              <a:off x="6309360" y="384048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FDECEC"/>
            </a:solidFill>
            <a:ln w="12700" cap="flat" cmpd="sng">
              <a:solidFill>
                <a:srgbClr val="D6454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 txBox="1"/>
            <p:nvPr/>
          </p:nvSpPr>
          <p:spPr>
            <a:xfrm>
              <a:off x="6309360" y="384048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D64545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>
                  <a:solidFill>
                    <a:srgbClr val="D64545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" name="Google Shape;131;p7" descr="icon_arrowRight_1E6B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5632" y="3904488"/>
            <a:ext cx="310896" cy="310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F80718C-B1FE-1F1A-68B9-43B97A1C751F}"/>
              </a:ext>
            </a:extLst>
          </p:cNvPr>
          <p:cNvGrpSpPr/>
          <p:nvPr/>
        </p:nvGrpSpPr>
        <p:grpSpPr>
          <a:xfrm>
            <a:off x="8915400" y="3840480"/>
            <a:ext cx="2103120" cy="438912"/>
            <a:chOff x="8915400" y="3840480"/>
            <a:chExt cx="2103120" cy="438912"/>
          </a:xfrm>
        </p:grpSpPr>
        <p:sp>
          <p:nvSpPr>
            <p:cNvPr id="132" name="Google Shape;132;p7"/>
            <p:cNvSpPr/>
            <p:nvPr/>
          </p:nvSpPr>
          <p:spPr>
            <a:xfrm>
              <a:off x="8915400" y="3840480"/>
              <a:ext cx="2103120" cy="438912"/>
            </a:xfrm>
            <a:prstGeom prst="roundRect">
              <a:avLst>
                <a:gd name="adj" fmla="val 12500"/>
              </a:avLst>
            </a:prstGeom>
            <a:solidFill>
              <a:srgbClr val="E6F6EC"/>
            </a:solidFill>
            <a:ln w="12700" cap="flat" cmpd="sng">
              <a:solidFill>
                <a:srgbClr val="1E9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 txBox="1"/>
            <p:nvPr/>
          </p:nvSpPr>
          <p:spPr>
            <a:xfrm>
              <a:off x="8915400" y="3840480"/>
              <a:ext cx="2103120" cy="438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1250"/>
                <a:buFont typeface="Consolas"/>
                <a:buNone/>
              </a:pPr>
              <a:r>
                <a:rPr lang="en-US" sz="1250" b="1" i="0" u="none" strike="noStrike" cap="none">
                  <a:solidFill>
                    <a:srgbClr val="1E9E5A"/>
                  </a:solidFill>
                  <a:latin typeface="Consolas"/>
                  <a:ea typeface="Consolas"/>
                  <a:cs typeface="Consolas"/>
                  <a:sym typeface="Consolas"/>
                </a:rPr>
                <a:t>start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FCF59B7-B404-9AF6-8C49-230A3108E969}"/>
              </a:ext>
            </a:extLst>
          </p:cNvPr>
          <p:cNvGrpSpPr/>
          <p:nvPr/>
        </p:nvGrpSpPr>
        <p:grpSpPr>
          <a:xfrm>
            <a:off x="457200" y="4343400"/>
            <a:ext cx="11274552" cy="1371600"/>
            <a:chOff x="457200" y="4343400"/>
            <a:chExt cx="11274552" cy="1371600"/>
          </a:xfrm>
        </p:grpSpPr>
        <p:sp>
          <p:nvSpPr>
            <p:cNvPr id="134" name="Google Shape;134;p7"/>
            <p:cNvSpPr/>
            <p:nvPr/>
          </p:nvSpPr>
          <p:spPr>
            <a:xfrm>
              <a:off x="457200" y="4343400"/>
              <a:ext cx="11274552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 txBox="1"/>
            <p:nvPr/>
          </p:nvSpPr>
          <p:spPr>
            <a:xfrm>
              <a:off x="731520" y="4498848"/>
              <a:ext cx="10515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Two design choices set this apart: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6" name="Google Shape;136;p7" descr="icon_hash_1E6BFF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7240" y="4937760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7"/>
            <p:cNvSpPr txBox="1"/>
            <p:nvPr/>
          </p:nvSpPr>
          <p:spPr>
            <a:xfrm>
              <a:off x="1234440" y="4892040"/>
              <a:ext cx="493776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250"/>
                <a:buFont typeface="Calibri"/>
                <a:buNone/>
              </a:pPr>
              <a:r>
                <a:rPr lang="en-US" sz="1250" b="1" i="0" u="none" strike="noStrike" cap="none">
                  <a:solidFill>
                    <a:srgbClr val="0D1117"/>
                  </a:solidFill>
                  <a:latin typeface="Calibri"/>
                  <a:ea typeface="Calibri"/>
                  <a:cs typeface="Calibri"/>
                  <a:sym typeface="Calibri"/>
                </a:rPr>
                <a:t>Type-level detection  </a:t>
              </a:r>
              <a:r>
                <a:rPr lang="en-US" sz="12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— count each unique word once, not per occurrence.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8" name="Google Shape;138;p7" descr="icon_key_1E6B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400800" y="4937760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7"/>
            <p:cNvSpPr txBox="1"/>
            <p:nvPr/>
          </p:nvSpPr>
          <p:spPr>
            <a:xfrm>
              <a:off x="6858000" y="4892040"/>
              <a:ext cx="475488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250"/>
                <a:buFont typeface="Calibri"/>
                <a:buNone/>
              </a:pPr>
              <a:r>
                <a:rPr lang="en-US" sz="1250" b="1" i="0" u="none" strike="noStrike" cap="none">
                  <a:solidFill>
                    <a:srgbClr val="0D1117"/>
                  </a:solidFill>
                  <a:latin typeface="Calibri"/>
                  <a:ea typeface="Calibri"/>
                  <a:cs typeface="Calibri"/>
                  <a:sym typeface="Calibri"/>
                </a:rPr>
                <a:t>Dual-key AND detection  </a:t>
              </a:r>
              <a:r>
                <a:rPr lang="en-US" sz="12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— require two independent keys to pass.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7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 title="Screenshot_20260920_132435_GitHub.jpg"/>
          <p:cNvPicPr preferRelativeResize="0"/>
          <p:nvPr/>
        </p:nvPicPr>
        <p:blipFill rotWithShape="1">
          <a:blip r:embed="rId8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EFAEA3-0064-65B4-D91F-03DD121711F2}"/>
              </a:ext>
            </a:extLst>
          </p:cNvPr>
          <p:cNvSpPr txBox="1"/>
          <p:nvPr/>
        </p:nvSpPr>
        <p:spPr>
          <a:xfrm>
            <a:off x="457200" y="3798829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Same word + same key → same color; different key → independent partition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/>
      <p:bldP spid="117" grpId="0"/>
      <p:bldP spid="118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8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DESIGN CHOICE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Type-level detection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detector runs a one-sided Z-test on the green fraction. Crucially, we count unique word types — each identity once — rather than token occurrences.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015E7A-91EF-18A2-7EDB-ED82A5CF1D6F}"/>
              </a:ext>
            </a:extLst>
          </p:cNvPr>
          <p:cNvGrpSpPr/>
          <p:nvPr/>
        </p:nvGrpSpPr>
        <p:grpSpPr>
          <a:xfrm>
            <a:off x="457200" y="2331720"/>
            <a:ext cx="5532120" cy="2788920"/>
            <a:chOff x="457200" y="2331720"/>
            <a:chExt cx="5532120" cy="2788920"/>
          </a:xfrm>
        </p:grpSpPr>
        <p:sp>
          <p:nvSpPr>
            <p:cNvPr id="152" name="Google Shape;152;p8"/>
            <p:cNvSpPr/>
            <p:nvPr/>
          </p:nvSpPr>
          <p:spPr>
            <a:xfrm>
              <a:off x="457200" y="2331720"/>
              <a:ext cx="5532120" cy="2788920"/>
            </a:xfrm>
            <a:prstGeom prst="roundRect">
              <a:avLst>
                <a:gd name="adj" fmla="val 3279"/>
              </a:avLst>
            </a:prstGeom>
            <a:solidFill>
              <a:srgbClr val="FDECEC"/>
            </a:solidFill>
            <a:ln w="12700" cap="flat" cmpd="sng">
              <a:solidFill>
                <a:srgbClr val="D6454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31520" y="2560320"/>
              <a:ext cx="603504" cy="603504"/>
            </a:xfrm>
            <a:prstGeom prst="roundRect">
              <a:avLst>
                <a:gd name="adj" fmla="val 14000"/>
              </a:avLst>
            </a:prstGeom>
            <a:solidFill>
              <a:srgbClr val="FD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8" descr="icon_alert_D64545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8256" y="2687056"/>
              <a:ext cx="350032" cy="350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8"/>
            <p:cNvSpPr txBox="1"/>
            <p:nvPr/>
          </p:nvSpPr>
          <p:spPr>
            <a:xfrm>
              <a:off x="1463040" y="2560320"/>
              <a:ext cx="4297680" cy="603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Token-level (the problem)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340156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8"/>
            <p:cNvSpPr txBox="1"/>
            <p:nvPr/>
          </p:nvSpPr>
          <p:spPr>
            <a:xfrm>
              <a:off x="1060704" y="3328416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Repetitive political terms (parliament, committee, member) appear dozens of times.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" name="Google Shape;158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3968496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8"/>
            <p:cNvSpPr txBox="1"/>
            <p:nvPr/>
          </p:nvSpPr>
          <p:spPr>
            <a:xfrm>
              <a:off x="1060704" y="3895344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One substitution of such a word dominates the Z-statistic.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0" name="Google Shape;160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4535424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8"/>
            <p:cNvSpPr txBox="1"/>
            <p:nvPr/>
          </p:nvSpPr>
          <p:spPr>
            <a:xfrm>
              <a:off x="1060704" y="4462272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The null distribution becomes unstable &amp; skewed.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5D3E629-57B5-D388-2CFA-61BB06D70398}"/>
              </a:ext>
            </a:extLst>
          </p:cNvPr>
          <p:cNvGrpSpPr/>
          <p:nvPr/>
        </p:nvGrpSpPr>
        <p:grpSpPr>
          <a:xfrm>
            <a:off x="6199632" y="2331720"/>
            <a:ext cx="5532120" cy="2788920"/>
            <a:chOff x="6199632" y="2331720"/>
            <a:chExt cx="5532120" cy="2788920"/>
          </a:xfrm>
        </p:grpSpPr>
        <p:sp>
          <p:nvSpPr>
            <p:cNvPr id="162" name="Google Shape;162;p8"/>
            <p:cNvSpPr/>
            <p:nvPr/>
          </p:nvSpPr>
          <p:spPr>
            <a:xfrm>
              <a:off x="6199632" y="2331720"/>
              <a:ext cx="5532120" cy="2788920"/>
            </a:xfrm>
            <a:prstGeom prst="roundRect">
              <a:avLst>
                <a:gd name="adj" fmla="val 3279"/>
              </a:avLst>
            </a:prstGeom>
            <a:solidFill>
              <a:srgbClr val="E6F6EC"/>
            </a:solidFill>
            <a:ln w="12700" cap="flat" cmpd="sng">
              <a:solidFill>
                <a:srgbClr val="1E9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473952" y="2560320"/>
              <a:ext cx="603504" cy="603504"/>
            </a:xfrm>
            <a:prstGeom prst="roundRect">
              <a:avLst>
                <a:gd name="adj" fmla="val 14000"/>
              </a:avLst>
            </a:prstGeom>
            <a:solidFill>
              <a:srgbClr val="E6F6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4" name="Google Shape;164;p8" descr="icon_check_1E9E5A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00688" y="2687056"/>
              <a:ext cx="350032" cy="3500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8"/>
            <p:cNvSpPr txBox="1"/>
            <p:nvPr/>
          </p:nvSpPr>
          <p:spPr>
            <a:xfrm>
              <a:off x="7205472" y="2560320"/>
              <a:ext cx="4297680" cy="603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Type-level (our fix)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6" name="Google Shape;166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3952" y="340156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8"/>
            <p:cNvSpPr txBox="1"/>
            <p:nvPr/>
          </p:nvSpPr>
          <p:spPr>
            <a:xfrm>
              <a:off x="6803136" y="3328416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Each word identity counts exactly once, regardless of repetition.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8" name="Google Shape;168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3952" y="3968496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8"/>
            <p:cNvSpPr txBox="1"/>
            <p:nvPr/>
          </p:nvSpPr>
          <p:spPr>
            <a:xfrm>
              <a:off x="6803136" y="3895344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Every substitution gets equal statistical weight.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0" name="Google Shape;170;p8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3952" y="4535424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8"/>
            <p:cNvSpPr txBox="1"/>
            <p:nvPr/>
          </p:nvSpPr>
          <p:spPr>
            <a:xfrm>
              <a:off x="6803136" y="4462272"/>
              <a:ext cx="4700016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A stable, well-centred null — ideal for repetitive EU-speech vocabulary.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0A992CB-1015-627E-F679-9C21A6D949D3}"/>
              </a:ext>
            </a:extLst>
          </p:cNvPr>
          <p:cNvGrpSpPr/>
          <p:nvPr/>
        </p:nvGrpSpPr>
        <p:grpSpPr>
          <a:xfrm>
            <a:off x="457200" y="5303520"/>
            <a:ext cx="11274552" cy="457200"/>
            <a:chOff x="457200" y="5303520"/>
            <a:chExt cx="11274552" cy="457200"/>
          </a:xfrm>
        </p:grpSpPr>
        <p:sp>
          <p:nvSpPr>
            <p:cNvPr id="172" name="Google Shape;172;p8"/>
            <p:cNvSpPr/>
            <p:nvPr/>
          </p:nvSpPr>
          <p:spPr>
            <a:xfrm>
              <a:off x="457200" y="5303520"/>
              <a:ext cx="11274552" cy="457200"/>
            </a:xfrm>
            <a:prstGeom prst="roundRect">
              <a:avLst>
                <a:gd name="adj" fmla="val 12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457200" y="5303520"/>
              <a:ext cx="112745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6BFF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 dirty="0">
                  <a:solidFill>
                    <a:srgbClr val="1E6BFF"/>
                  </a:solidFill>
                  <a:latin typeface="Calibri"/>
                  <a:ea typeface="Calibri"/>
                  <a:cs typeface="Calibri"/>
                  <a:sym typeface="Calibri"/>
                </a:rPr>
                <a:t>Expanding POS coverage {NN, JJ} → {NN, NNS, JJ, VB, VBP} raised avg. scoreable types 11.6 → 24.6 (28 failure cases → 0 failure cases), eliminating all 28 undetectable texts.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8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 title="Screenshot_20260920_132435_GitHub.jpg"/>
          <p:cNvPicPr preferRelativeResize="0"/>
          <p:nvPr/>
        </p:nvPicPr>
        <p:blipFill rotWithShape="1">
          <a:blip r:embed="rId7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502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DESIGN CHOICE 2  ·  THE KEY IDEA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Dual-key AND detection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8C4D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8C4D6"/>
                </a:solidFill>
                <a:latin typeface="Calibri"/>
                <a:ea typeface="Calibri"/>
                <a:cs typeface="Calibri"/>
                <a:sym typeface="Calibri"/>
              </a:rPr>
              <a:t>Classify as watermarked only if BOTH independent Z-tests pass. Two chances to raise a false alarm become one joint, far rarer event.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10E400-396F-2F99-3BE7-65FDE56E7B52}"/>
              </a:ext>
            </a:extLst>
          </p:cNvPr>
          <p:cNvGrpSpPr/>
          <p:nvPr/>
        </p:nvGrpSpPr>
        <p:grpSpPr>
          <a:xfrm>
            <a:off x="731520" y="2194560"/>
            <a:ext cx="5943600" cy="914400"/>
            <a:chOff x="731520" y="2194560"/>
            <a:chExt cx="5943600" cy="914400"/>
          </a:xfrm>
        </p:grpSpPr>
        <p:sp>
          <p:nvSpPr>
            <p:cNvPr id="186" name="Google Shape;186;p9"/>
            <p:cNvSpPr/>
            <p:nvPr/>
          </p:nvSpPr>
          <p:spPr>
            <a:xfrm>
              <a:off x="731520" y="2194560"/>
              <a:ext cx="5943600" cy="914400"/>
            </a:xfrm>
            <a:prstGeom prst="roundRect">
              <a:avLst>
                <a:gd name="adj" fmla="val 10000"/>
              </a:avLst>
            </a:prstGeom>
            <a:solidFill>
              <a:srgbClr val="12203A"/>
            </a:solidFill>
            <a:ln w="12700" cap="flat" cmpd="sng">
              <a:solidFill>
                <a:srgbClr val="264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731520" y="2194560"/>
              <a:ext cx="5943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22C3FF"/>
                </a:buClr>
                <a:buSzPts val="1900"/>
                <a:buFont typeface="Consolas"/>
                <a:buNone/>
              </a:pPr>
              <a:r>
                <a:rPr lang="en-US" sz="1900" b="1" i="0" u="none" strike="noStrike" cap="none">
                  <a:solidFill>
                    <a:srgbClr val="22C3FF"/>
                  </a:solidFill>
                  <a:latin typeface="Consolas"/>
                  <a:ea typeface="Consolas"/>
                  <a:cs typeface="Consolas"/>
                  <a:sym typeface="Consolas"/>
                </a:rPr>
                <a:t>Z(K1) ≥ 1.5   AND   Z(K2) ≥ 1.5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8E1AFD0-EECB-3134-B2A3-03503938DA27}"/>
              </a:ext>
            </a:extLst>
          </p:cNvPr>
          <p:cNvGrpSpPr/>
          <p:nvPr/>
        </p:nvGrpSpPr>
        <p:grpSpPr>
          <a:xfrm>
            <a:off x="731520" y="3383280"/>
            <a:ext cx="2834640" cy="1874520"/>
            <a:chOff x="731520" y="3383280"/>
            <a:chExt cx="2834640" cy="1874520"/>
          </a:xfrm>
        </p:grpSpPr>
        <p:sp>
          <p:nvSpPr>
            <p:cNvPr id="188" name="Google Shape;188;p9"/>
            <p:cNvSpPr/>
            <p:nvPr/>
          </p:nvSpPr>
          <p:spPr>
            <a:xfrm>
              <a:off x="731520" y="3383280"/>
              <a:ext cx="2834640" cy="1874520"/>
            </a:xfrm>
            <a:prstGeom prst="roundRect">
              <a:avLst>
                <a:gd name="adj" fmla="val 4878"/>
              </a:avLst>
            </a:prstGeom>
            <a:solidFill>
              <a:srgbClr val="12203A"/>
            </a:solidFill>
            <a:ln w="12700" cap="flat" cmpd="sng">
              <a:solidFill>
                <a:srgbClr val="2640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 txBox="1"/>
            <p:nvPr/>
          </p:nvSpPr>
          <p:spPr>
            <a:xfrm>
              <a:off x="731520" y="3566160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FB3D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9FB3D0"/>
                  </a:solidFill>
                  <a:latin typeface="Arial"/>
                  <a:ea typeface="Arial"/>
                  <a:cs typeface="Arial"/>
                  <a:sym typeface="Arial"/>
                </a:rPr>
                <a:t>Single key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731520" y="3931920"/>
              <a:ext cx="28346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D64545"/>
                </a:buClr>
                <a:buSzPts val="3800"/>
                <a:buFont typeface="Arial"/>
                <a:buNone/>
              </a:pPr>
              <a:r>
                <a:rPr lang="en-US" sz="3800" b="1" i="0" u="none" strike="noStrike" cap="none">
                  <a:solidFill>
                    <a:srgbClr val="D64545"/>
                  </a:solidFill>
                  <a:latin typeface="Arial"/>
                  <a:ea typeface="Arial"/>
                  <a:cs typeface="Arial"/>
                  <a:sym typeface="Arial"/>
                </a:rPr>
                <a:t>≈6.7%</a:t>
              </a:r>
              <a:endPara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731520" y="470916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FB3D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9FB3D0"/>
                  </a:solidFill>
                  <a:latin typeface="Calibri"/>
                  <a:ea typeface="Calibri"/>
                  <a:cs typeface="Calibri"/>
                  <a:sym typeface="Calibri"/>
                </a:rPr>
                <a:t>P(false positive)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" name="Google Shape;192;p9" descr="icon_arrowRight_FFFFF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3320" y="4160520"/>
            <a:ext cx="457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5F07062-CF43-0D71-925C-21328E3AE62D}"/>
              </a:ext>
            </a:extLst>
          </p:cNvPr>
          <p:cNvGrpSpPr/>
          <p:nvPr/>
        </p:nvGrpSpPr>
        <p:grpSpPr>
          <a:xfrm>
            <a:off x="4297680" y="3383280"/>
            <a:ext cx="2834640" cy="1874520"/>
            <a:chOff x="4297680" y="3383280"/>
            <a:chExt cx="2834640" cy="1874520"/>
          </a:xfrm>
        </p:grpSpPr>
        <p:sp>
          <p:nvSpPr>
            <p:cNvPr id="193" name="Google Shape;193;p9"/>
            <p:cNvSpPr/>
            <p:nvPr/>
          </p:nvSpPr>
          <p:spPr>
            <a:xfrm>
              <a:off x="4297680" y="3383280"/>
              <a:ext cx="2834640" cy="1874520"/>
            </a:xfrm>
            <a:prstGeom prst="roundRect">
              <a:avLst>
                <a:gd name="adj" fmla="val 4878"/>
              </a:avLst>
            </a:prstGeom>
            <a:solidFill>
              <a:srgbClr val="12203A"/>
            </a:solidFill>
            <a:ln w="19050" cap="flat" cmpd="sng">
              <a:solidFill>
                <a:srgbClr val="1E9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 txBox="1"/>
            <p:nvPr/>
          </p:nvSpPr>
          <p:spPr>
            <a:xfrm>
              <a:off x="4297680" y="3566160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FB3D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9FB3D0"/>
                  </a:solidFill>
                  <a:latin typeface="Arial"/>
                  <a:ea typeface="Arial"/>
                  <a:cs typeface="Arial"/>
                  <a:sym typeface="Arial"/>
                </a:rPr>
                <a:t>Dual key (AND)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4297680" y="3931920"/>
              <a:ext cx="28346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3800"/>
                <a:buFont typeface="Arial"/>
                <a:buNone/>
              </a:pPr>
              <a:r>
                <a:rPr lang="en-US" sz="3800" b="1" i="0" u="none" strike="noStrike" cap="none">
                  <a:solidFill>
                    <a:srgbClr val="1E9E5A"/>
                  </a:solidFill>
                  <a:latin typeface="Arial"/>
                  <a:ea typeface="Arial"/>
                  <a:cs typeface="Arial"/>
                  <a:sym typeface="Arial"/>
                </a:rPr>
                <a:t>≈0.45%</a:t>
              </a:r>
              <a:endPara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4297680" y="4709160"/>
              <a:ext cx="283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9FB3D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9FB3D0"/>
                  </a:solidFill>
                  <a:latin typeface="Calibri"/>
                  <a:ea typeface="Calibri"/>
                  <a:cs typeface="Calibri"/>
                  <a:sym typeface="Calibri"/>
                </a:rPr>
                <a:t>P(false positive)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9"/>
          <p:cNvSpPr txBox="1"/>
          <p:nvPr/>
        </p:nvSpPr>
        <p:spPr>
          <a:xfrm>
            <a:off x="7498080" y="22860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The catch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7A7CBE-12D3-8AD2-1B87-4842B6591D12}"/>
              </a:ext>
            </a:extLst>
          </p:cNvPr>
          <p:cNvGrpSpPr/>
          <p:nvPr/>
        </p:nvGrpSpPr>
        <p:grpSpPr>
          <a:xfrm>
            <a:off x="7498080" y="2734056"/>
            <a:ext cx="4206240" cy="914400"/>
            <a:chOff x="7498080" y="2734056"/>
            <a:chExt cx="4206240" cy="914400"/>
          </a:xfrm>
        </p:grpSpPr>
        <p:pic>
          <p:nvPicPr>
            <p:cNvPr id="198" name="Google Shape;198;p9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8080" y="280720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9"/>
            <p:cNvSpPr txBox="1"/>
            <p:nvPr/>
          </p:nvSpPr>
          <p:spPr>
            <a:xfrm>
              <a:off x="7827264" y="2734056"/>
              <a:ext cx="3877056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 dirty="0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P(FP) drops 15× — extremely precise.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BA0551A-D8DC-414F-2987-A31BD27B94B4}"/>
              </a:ext>
            </a:extLst>
          </p:cNvPr>
          <p:cNvGrpSpPr/>
          <p:nvPr/>
        </p:nvGrpSpPr>
        <p:grpSpPr>
          <a:xfrm>
            <a:off x="7498080" y="3648456"/>
            <a:ext cx="4206240" cy="914400"/>
            <a:chOff x="7498080" y="3648456"/>
            <a:chExt cx="4206240" cy="914400"/>
          </a:xfrm>
        </p:grpSpPr>
        <p:pic>
          <p:nvPicPr>
            <p:cNvPr id="200" name="Google Shape;200;p9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8080" y="372160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9"/>
            <p:cNvSpPr txBox="1"/>
            <p:nvPr/>
          </p:nvSpPr>
          <p:spPr>
            <a:xfrm>
              <a:off x="7827264" y="3648456"/>
              <a:ext cx="3877056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But AND fails if the attack suppresses EITHER key below threshold.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FEC93BE-482F-EE56-8608-428136AB3EBB}"/>
              </a:ext>
            </a:extLst>
          </p:cNvPr>
          <p:cNvGrpSpPr/>
          <p:nvPr/>
        </p:nvGrpSpPr>
        <p:grpSpPr>
          <a:xfrm>
            <a:off x="7498080" y="4562856"/>
            <a:ext cx="4206240" cy="914400"/>
            <a:chOff x="7498080" y="4562856"/>
            <a:chExt cx="4206240" cy="914400"/>
          </a:xfrm>
        </p:grpSpPr>
        <p:pic>
          <p:nvPicPr>
            <p:cNvPr id="202" name="Google Shape;202;p9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498080" y="463600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9"/>
            <p:cNvSpPr txBox="1"/>
            <p:nvPr/>
          </p:nvSpPr>
          <p:spPr>
            <a:xfrm>
              <a:off x="7827264" y="4562856"/>
              <a:ext cx="3877056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One weak signal sinks the whole detection — even if the other survives strongly.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9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6">
            <a:alphaModFix/>
          </a:blip>
          <a:srcRect t="35373" b="30384"/>
          <a:stretch/>
        </p:blipFill>
        <p:spPr>
          <a:xfrm>
            <a:off x="9281151" y="137175"/>
            <a:ext cx="2713196" cy="4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0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Three sequential stages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6E5DFD-1972-17F8-BE24-467A959A835A}"/>
              </a:ext>
            </a:extLst>
          </p:cNvPr>
          <p:cNvGrpSpPr/>
          <p:nvPr/>
        </p:nvGrpSpPr>
        <p:grpSpPr>
          <a:xfrm>
            <a:off x="457200" y="1691640"/>
            <a:ext cx="3566160" cy="2514600"/>
            <a:chOff x="457200" y="1691640"/>
            <a:chExt cx="3566160" cy="2514600"/>
          </a:xfrm>
        </p:grpSpPr>
        <p:sp>
          <p:nvSpPr>
            <p:cNvPr id="215" name="Google Shape;215;p10"/>
            <p:cNvSpPr/>
            <p:nvPr/>
          </p:nvSpPr>
          <p:spPr>
            <a:xfrm>
              <a:off x="457200" y="1691640"/>
              <a:ext cx="3566160" cy="25146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731520" y="1920240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7" name="Google Shape;217;p10" descr="icon_key_1E6B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2096" y="2050816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10"/>
            <p:cNvSpPr txBox="1"/>
            <p:nvPr/>
          </p:nvSpPr>
          <p:spPr>
            <a:xfrm>
              <a:off x="731520" y="2651760"/>
              <a:ext cx="30632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Stage 1 — Key-1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731520" y="3182112"/>
              <a:ext cx="31089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Select top-12 red types (frequency-first), replace globally with green synonyms. Prefer double-green synonyms to pre-boost Key-2.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0" name="Google Shape;220;p10" descr="icon_arrowRight_1E6B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82655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07538B0-625A-E098-3400-344D39A79958}"/>
              </a:ext>
            </a:extLst>
          </p:cNvPr>
          <p:cNvGrpSpPr/>
          <p:nvPr/>
        </p:nvGrpSpPr>
        <p:grpSpPr>
          <a:xfrm>
            <a:off x="4251960" y="1691640"/>
            <a:ext cx="3566160" cy="2514600"/>
            <a:chOff x="4251960" y="1691640"/>
            <a:chExt cx="3566160" cy="2514600"/>
          </a:xfrm>
        </p:grpSpPr>
        <p:sp>
          <p:nvSpPr>
            <p:cNvPr id="221" name="Google Shape;221;p10"/>
            <p:cNvSpPr/>
            <p:nvPr/>
          </p:nvSpPr>
          <p:spPr>
            <a:xfrm>
              <a:off x="4251960" y="1691640"/>
              <a:ext cx="3566160" cy="25146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4526280" y="1920240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3" name="Google Shape;223;p10" descr="icon_key_1E6B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656856" y="2050816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0"/>
            <p:cNvSpPr txBox="1"/>
            <p:nvPr/>
          </p:nvSpPr>
          <p:spPr>
            <a:xfrm>
              <a:off x="4526280" y="2651760"/>
              <a:ext cx="30632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Stage 2 — Key-2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0"/>
            <p:cNvSpPr txBox="1"/>
            <p:nvPr/>
          </p:nvSpPr>
          <p:spPr>
            <a:xfrm>
              <a:off x="4526280" y="3182112"/>
              <a:ext cx="31089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Repeat for the second key, skipping types already used. May lower the Key-1 signal.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6" name="Google Shape;226;p10" descr="icon_arrowRight_1E6B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7080" y="2788920"/>
            <a:ext cx="320040" cy="320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A653447-8927-A9F1-918F-193AF291A65F}"/>
              </a:ext>
            </a:extLst>
          </p:cNvPr>
          <p:cNvGrpSpPr/>
          <p:nvPr/>
        </p:nvGrpSpPr>
        <p:grpSpPr>
          <a:xfrm>
            <a:off x="8046720" y="1691640"/>
            <a:ext cx="3566160" cy="2514600"/>
            <a:chOff x="8046720" y="1691640"/>
            <a:chExt cx="3566160" cy="2514600"/>
          </a:xfrm>
        </p:grpSpPr>
        <p:sp>
          <p:nvSpPr>
            <p:cNvPr id="227" name="Google Shape;227;p10"/>
            <p:cNvSpPr/>
            <p:nvPr/>
          </p:nvSpPr>
          <p:spPr>
            <a:xfrm>
              <a:off x="8046720" y="1691640"/>
              <a:ext cx="3566160" cy="25146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8321040" y="1920240"/>
              <a:ext cx="621792" cy="621792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9" name="Google Shape;229;p10" descr="icon_refresh_1E6B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451616" y="2050816"/>
              <a:ext cx="360639" cy="3606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0"/>
            <p:cNvSpPr txBox="1"/>
            <p:nvPr/>
          </p:nvSpPr>
          <p:spPr>
            <a:xfrm>
              <a:off x="8321040" y="2651760"/>
              <a:ext cx="30632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Stage 3 — Restoration</a:t>
              </a:r>
              <a:endPara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0"/>
            <p:cNvSpPr txBox="1"/>
            <p:nvPr/>
          </p:nvSpPr>
          <p:spPr>
            <a:xfrm>
              <a:off x="8321040" y="3182112"/>
              <a:ext cx="31089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Up to 3 rounds alternate between keys to a conservative target, restoring both Z-scores above threshold.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5A365F6-8856-4688-CF80-8743B6192EF4}"/>
              </a:ext>
            </a:extLst>
          </p:cNvPr>
          <p:cNvGrpSpPr/>
          <p:nvPr/>
        </p:nvGrpSpPr>
        <p:grpSpPr>
          <a:xfrm>
            <a:off x="457200" y="4434840"/>
            <a:ext cx="11274552" cy="1280160"/>
            <a:chOff x="457200" y="4434840"/>
            <a:chExt cx="11274552" cy="1280160"/>
          </a:xfrm>
        </p:grpSpPr>
        <p:sp>
          <p:nvSpPr>
            <p:cNvPr id="232" name="Google Shape;232;p10"/>
            <p:cNvSpPr/>
            <p:nvPr/>
          </p:nvSpPr>
          <p:spPr>
            <a:xfrm>
              <a:off x="457200" y="4434840"/>
              <a:ext cx="11274552" cy="1280160"/>
            </a:xfrm>
            <a:prstGeom prst="roundRect">
              <a:avLst>
                <a:gd name="adj" fmla="val 7143"/>
              </a:avLst>
            </a:prstGeom>
            <a:solidFill>
              <a:srgbClr val="F0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0"/>
            <p:cNvSpPr txBox="1"/>
            <p:nvPr/>
          </p:nvSpPr>
          <p:spPr>
            <a:xfrm>
              <a:off x="731520" y="4572000"/>
              <a:ext cx="105156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6BFF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1E6BFF"/>
                  </a:solidFill>
                  <a:latin typeface="Arial"/>
                  <a:ea typeface="Arial"/>
                  <a:cs typeface="Arial"/>
                  <a:sym typeface="Arial"/>
                </a:rPr>
                <a:t>Robustness safeguards built in</a:t>
              </a:r>
              <a:endParaRPr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0467B9B-65FA-E16B-E829-EEAF2C293D9B}"/>
              </a:ext>
            </a:extLst>
          </p:cNvPr>
          <p:cNvGrpSpPr/>
          <p:nvPr/>
        </p:nvGrpSpPr>
        <p:grpSpPr>
          <a:xfrm>
            <a:off x="731520" y="4956048"/>
            <a:ext cx="3730752" cy="704088"/>
            <a:chOff x="731520" y="4956048"/>
            <a:chExt cx="3730752" cy="704088"/>
          </a:xfrm>
        </p:grpSpPr>
        <p:pic>
          <p:nvPicPr>
            <p:cNvPr id="234" name="Google Shape;234;p10" descr="icon_maximize_1E6BFF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31520" y="4983480"/>
              <a:ext cx="347472" cy="347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0"/>
            <p:cNvSpPr txBox="1"/>
            <p:nvPr/>
          </p:nvSpPr>
          <p:spPr>
            <a:xfrm>
              <a:off x="1170432" y="4956048"/>
              <a:ext cx="32918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Frequency-first ranking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0"/>
            <p:cNvSpPr txBox="1"/>
            <p:nvPr/>
          </p:nvSpPr>
          <p:spPr>
            <a:xfrm>
              <a:off x="1170432" y="5248656"/>
              <a:ext cx="32461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050"/>
                <a:buFont typeface="Calibri"/>
                <a:buNone/>
              </a:pPr>
              <a:r>
                <a:rPr lang="en-US" sz="10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High-frequency types are harder to erase → embedded first</a:t>
              </a:r>
              <a:endPara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D32DEF4-D785-1A7A-46FF-0439ADF96EC1}"/>
              </a:ext>
            </a:extLst>
          </p:cNvPr>
          <p:cNvGrpSpPr/>
          <p:nvPr/>
        </p:nvGrpSpPr>
        <p:grpSpPr>
          <a:xfrm>
            <a:off x="4434840" y="4956048"/>
            <a:ext cx="3730752" cy="704088"/>
            <a:chOff x="4434840" y="4956048"/>
            <a:chExt cx="3730752" cy="704088"/>
          </a:xfrm>
        </p:grpSpPr>
        <p:pic>
          <p:nvPicPr>
            <p:cNvPr id="237" name="Google Shape;237;p10" descr="icon_shield_1E6BFF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434840" y="4983480"/>
              <a:ext cx="347472" cy="347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0"/>
            <p:cNvSpPr txBox="1"/>
            <p:nvPr/>
          </p:nvSpPr>
          <p:spPr>
            <a:xfrm>
              <a:off x="4873752" y="4956048"/>
              <a:ext cx="32918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Text hardening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0"/>
            <p:cNvSpPr txBox="1"/>
            <p:nvPr/>
          </p:nvSpPr>
          <p:spPr>
            <a:xfrm>
              <a:off x="4873752" y="5248656"/>
              <a:ext cx="32461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050"/>
                <a:buFont typeface="Calibri"/>
                <a:buNone/>
              </a:pPr>
              <a:r>
                <a:rPr lang="en-US" sz="10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NFKC normalisation, homoglyph remap, zero-width removal</a:t>
              </a:r>
              <a:endPara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D25F8-EBC6-C7BA-C5DD-AB28880CF1F5}"/>
              </a:ext>
            </a:extLst>
          </p:cNvPr>
          <p:cNvGrpSpPr/>
          <p:nvPr/>
        </p:nvGrpSpPr>
        <p:grpSpPr>
          <a:xfrm>
            <a:off x="8138160" y="4956048"/>
            <a:ext cx="3730752" cy="704088"/>
            <a:chOff x="8138160" y="4956048"/>
            <a:chExt cx="3730752" cy="704088"/>
          </a:xfrm>
        </p:grpSpPr>
        <p:pic>
          <p:nvPicPr>
            <p:cNvPr id="240" name="Google Shape;240;p10" descr="icon_filter_1E6BFF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138160" y="4983480"/>
              <a:ext cx="347472" cy="347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0"/>
            <p:cNvSpPr txBox="1"/>
            <p:nvPr/>
          </p:nvSpPr>
          <p:spPr>
            <a:xfrm>
              <a:off x="8577072" y="4956048"/>
              <a:ext cx="32918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Semantic fallback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 txBox="1"/>
            <p:nvPr/>
          </p:nvSpPr>
          <p:spPr>
            <a:xfrm>
              <a:off x="8577072" y="5248656"/>
              <a:ext cx="32461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050"/>
                <a:buFont typeface="Calibri"/>
                <a:buNone/>
              </a:pPr>
              <a:r>
                <a:rPr lang="en-US" sz="10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BERT fill-mask when WordNet lacks a green synonym (SBERT sim ≥ 0.45)</a:t>
              </a:r>
              <a:endPara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0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0" title="Screenshot_20260920_132435_GitHub.jpg"/>
          <p:cNvPicPr preferRelativeResize="0"/>
          <p:nvPr/>
        </p:nvPicPr>
        <p:blipFill rotWithShape="1">
          <a:blip r:embed="rId11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/>
        </p:nvSpPr>
        <p:spPr>
          <a:xfrm>
            <a:off x="822960" y="201168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2000"/>
              <a:buFont typeface="Arial"/>
              <a:buNone/>
            </a:pPr>
            <a:r>
              <a:rPr lang="en-US" sz="12000" b="1" i="0" u="none" strike="noStrike" cap="none" dirty="0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1" descr="chevro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7640" y="2788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 txBox="1"/>
          <p:nvPr/>
        </p:nvSpPr>
        <p:spPr>
          <a:xfrm>
            <a:off x="4754880" y="246888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Results &amp; The Trade-off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4773168" y="3310128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3D0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9FB3D0"/>
                </a:solidFill>
                <a:latin typeface="Calibri"/>
                <a:ea typeface="Calibri"/>
                <a:cs typeface="Calibri"/>
                <a:sym typeface="Calibri"/>
              </a:rPr>
              <a:t>Where dual-key wins, where single-key wins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1"/>
          <p:cNvPicPr preferRelativeResize="0"/>
          <p:nvPr/>
        </p:nvPicPr>
        <p:blipFill rotWithShape="1">
          <a:blip r:embed="rId5">
            <a:alphaModFix/>
          </a:blip>
          <a:srcRect t="35373" b="30384"/>
          <a:stretch/>
        </p:blipFill>
        <p:spPr>
          <a:xfrm>
            <a:off x="9281151" y="137175"/>
            <a:ext cx="2713196" cy="4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0;p5">
            <a:extLst>
              <a:ext uri="{FF2B5EF4-FFF2-40B4-BE49-F238E27FC236}">
                <a16:creationId xmlns:a16="http://schemas.microsoft.com/office/drawing/2014/main" id="{45011AAA-4183-E60D-7820-BF54EEDDAD67}"/>
              </a:ext>
            </a:extLst>
          </p:cNvPr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/>
      <p:bldP spid="253" grpId="0"/>
      <p:bldP spid="2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2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THE CENTRAL FINDING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A stark inversion between attacks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691640"/>
            <a:ext cx="694944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/>
        </p:nvSpPr>
        <p:spPr>
          <a:xfrm>
            <a:off x="7680960" y="17373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Read the crossover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FBF0B9-B0F7-78D5-F5A8-8F3B9E2BB151}"/>
              </a:ext>
            </a:extLst>
          </p:cNvPr>
          <p:cNvGrpSpPr/>
          <p:nvPr/>
        </p:nvGrpSpPr>
        <p:grpSpPr>
          <a:xfrm>
            <a:off x="7680960" y="2231136"/>
            <a:ext cx="4023360" cy="1051560"/>
            <a:chOff x="7680960" y="2231136"/>
            <a:chExt cx="4023360" cy="1051560"/>
          </a:xfrm>
        </p:grpSpPr>
        <p:pic>
          <p:nvPicPr>
            <p:cNvPr id="269" name="Google Shape;269;p12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80960" y="230428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2"/>
            <p:cNvSpPr txBox="1"/>
            <p:nvPr/>
          </p:nvSpPr>
          <p:spPr>
            <a:xfrm>
              <a:off x="8010144" y="2231136"/>
              <a:ext cx="3694176" cy="1051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 dirty="0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Mild attack: dual-key wins (0.971) — both signals survive, precision pays off.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0DD15F8-47FC-B91A-1AAC-86F1467E6EFB}"/>
              </a:ext>
            </a:extLst>
          </p:cNvPr>
          <p:cNvGrpSpPr/>
          <p:nvPr/>
        </p:nvGrpSpPr>
        <p:grpSpPr>
          <a:xfrm>
            <a:off x="7680960" y="3282696"/>
            <a:ext cx="4023360" cy="1051560"/>
            <a:chOff x="7680960" y="3282696"/>
            <a:chExt cx="4023360" cy="1051560"/>
          </a:xfrm>
        </p:grpSpPr>
        <p:pic>
          <p:nvPicPr>
            <p:cNvPr id="271" name="Google Shape;271;p12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80960" y="335584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2"/>
            <p:cNvSpPr txBox="1"/>
            <p:nvPr/>
          </p:nvSpPr>
          <p:spPr>
            <a:xfrm>
              <a:off x="8010144" y="3282696"/>
              <a:ext cx="3694176" cy="1051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 dirty="0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Strong attack: single-key wins (0.775) — dual-key TP collapses 0.496 → 0.254.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62B981D-157A-C604-A455-9FFC1DA03D30}"/>
              </a:ext>
            </a:extLst>
          </p:cNvPr>
          <p:cNvGrpSpPr/>
          <p:nvPr/>
        </p:nvGrpSpPr>
        <p:grpSpPr>
          <a:xfrm>
            <a:off x="7680960" y="4334256"/>
            <a:ext cx="4023360" cy="1051560"/>
            <a:chOff x="7680960" y="4334256"/>
            <a:chExt cx="4023360" cy="1051560"/>
          </a:xfrm>
        </p:grpSpPr>
        <p:pic>
          <p:nvPicPr>
            <p:cNvPr id="273" name="Google Shape;273;p12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80960" y="440740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12"/>
            <p:cNvSpPr txBox="1"/>
            <p:nvPr/>
          </p:nvSpPr>
          <p:spPr>
            <a:xfrm>
              <a:off x="8010144" y="4334256"/>
              <a:ext cx="3694176" cy="1051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 dirty="0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The same design flips from best to worst as the attack hardens.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12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2" title="Screenshot_20260920_132435_GitHub.jpg"/>
          <p:cNvPicPr preferRelativeResize="0"/>
          <p:nvPr/>
        </p:nvPicPr>
        <p:blipFill rotWithShape="1">
          <a:blip r:embed="rId6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3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WHY IT HAPPENS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The precision–robustness trade-off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6EB10F-04A4-9B0D-ECE8-005E76C08B88}"/>
              </a:ext>
            </a:extLst>
          </p:cNvPr>
          <p:cNvGrpSpPr/>
          <p:nvPr/>
        </p:nvGrpSpPr>
        <p:grpSpPr>
          <a:xfrm>
            <a:off x="457200" y="1645920"/>
            <a:ext cx="5532120" cy="4114800"/>
            <a:chOff x="457200" y="1645920"/>
            <a:chExt cx="5532120" cy="4114800"/>
          </a:xfrm>
        </p:grpSpPr>
        <p:sp>
          <p:nvSpPr>
            <p:cNvPr id="286" name="Google Shape;286;p13"/>
            <p:cNvSpPr/>
            <p:nvPr/>
          </p:nvSpPr>
          <p:spPr>
            <a:xfrm>
              <a:off x="457200" y="1645920"/>
              <a:ext cx="5532120" cy="41148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731520" y="1828800"/>
              <a:ext cx="5029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The mechanism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8" name="Google Shape;288;p13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239572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13"/>
            <p:cNvSpPr txBox="1"/>
            <p:nvPr/>
          </p:nvSpPr>
          <p:spPr>
            <a:xfrm>
              <a:off x="1060704" y="2322576"/>
              <a:ext cx="4700016" cy="841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Shuffling is position-based; our bit(w;K) depends only on word identity → zero signal loss, AND holds easily.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0" name="Google Shape;290;p13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3236976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13"/>
            <p:cNvSpPr txBox="1"/>
            <p:nvPr/>
          </p:nvSpPr>
          <p:spPr>
            <a:xfrm>
              <a:off x="1060704" y="3163824"/>
              <a:ext cx="4700016" cy="841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The strong attack substitutes words, removing embedded green types.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2" name="Google Shape;292;p13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4078224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13"/>
            <p:cNvSpPr txBox="1"/>
            <p:nvPr/>
          </p:nvSpPr>
          <p:spPr>
            <a:xfrm>
              <a:off x="1060704" y="4005072"/>
              <a:ext cx="4700016" cy="841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With margin 1.0 above threshold, the attack still suppresses ≥1 key in ~half of texts.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4" name="Google Shape;294;p13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1520" y="4919472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3"/>
            <p:cNvSpPr txBox="1"/>
            <p:nvPr/>
          </p:nvSpPr>
          <p:spPr>
            <a:xfrm>
              <a:off x="1060704" y="4846320"/>
              <a:ext cx="4700016" cy="841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AND then fails — one downed key sinks detection.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543D0-DA22-F240-196B-45859B4E7A41}"/>
              </a:ext>
            </a:extLst>
          </p:cNvPr>
          <p:cNvGrpSpPr/>
          <p:nvPr/>
        </p:nvGrpSpPr>
        <p:grpSpPr>
          <a:xfrm>
            <a:off x="6199632" y="1645920"/>
            <a:ext cx="5532120" cy="4114800"/>
            <a:chOff x="6199632" y="1645920"/>
            <a:chExt cx="5532120" cy="4114800"/>
          </a:xfrm>
        </p:grpSpPr>
        <p:sp>
          <p:nvSpPr>
            <p:cNvPr id="296" name="Google Shape;296;p13"/>
            <p:cNvSpPr/>
            <p:nvPr/>
          </p:nvSpPr>
          <p:spPr>
            <a:xfrm>
              <a:off x="6199632" y="1645920"/>
              <a:ext cx="5532120" cy="4114800"/>
            </a:xfrm>
            <a:prstGeom prst="roundRect">
              <a:avLst>
                <a:gd name="adj" fmla="val 2222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3"/>
            <p:cNvSpPr txBox="1"/>
            <p:nvPr/>
          </p:nvSpPr>
          <p:spPr>
            <a:xfrm>
              <a:off x="6473952" y="1828800"/>
              <a:ext cx="5029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2C3FF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22C3FF"/>
                  </a:solidFill>
                  <a:latin typeface="Arial"/>
                  <a:ea typeface="Arial"/>
                  <a:cs typeface="Arial"/>
                  <a:sym typeface="Arial"/>
                </a:rPr>
                <a:t>A structural law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 txBox="1"/>
            <p:nvPr/>
          </p:nvSpPr>
          <p:spPr>
            <a:xfrm>
              <a:off x="6473952" y="2331720"/>
              <a:ext cx="50292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onsolas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P(detect)  =  ∏  P(key i survives)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3"/>
            <p:cNvSpPr txBox="1"/>
            <p:nvPr/>
          </p:nvSpPr>
          <p:spPr>
            <a:xfrm>
              <a:off x="6473952" y="2926080"/>
              <a:ext cx="5029200" cy="731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300"/>
                <a:buFont typeface="Calibri"/>
                <a:buNone/>
              </a:pPr>
              <a:r>
                <a:rPr lang="en-US" sz="1300" b="0" i="0" u="none" strike="noStrike" cap="none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Each added key multiplies in another survival probability &lt; 1. Under uniform attack degradation, more keys strictly lowers TP.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" name="Google Shape;300;p13"/>
            <p:cNvCxnSpPr/>
            <p:nvPr/>
          </p:nvCxnSpPr>
          <p:spPr>
            <a:xfrm>
              <a:off x="6473952" y="3794760"/>
              <a:ext cx="4937760" cy="0"/>
            </a:xfrm>
            <a:prstGeom prst="straightConnector1">
              <a:avLst/>
            </a:prstGeom>
            <a:noFill/>
            <a:ln w="12700" cap="flat" cmpd="sng">
              <a:solidFill>
                <a:srgbClr val="2A35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1" name="Google Shape;301;p13"/>
            <p:cNvSpPr txBox="1"/>
            <p:nvPr/>
          </p:nvSpPr>
          <p:spPr>
            <a:xfrm>
              <a:off x="6473952" y="3931920"/>
              <a:ext cx="5029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8C4D6"/>
                </a:buClr>
                <a:buSzPts val="1300"/>
                <a:buFont typeface="Calibri"/>
                <a:buNone/>
              </a:pPr>
              <a:r>
                <a:rPr lang="en-US" sz="1300" b="0" i="1" u="none" strike="noStrike" cap="none">
                  <a:solidFill>
                    <a:srgbClr val="B8C4D6"/>
                  </a:solidFill>
                  <a:latin typeface="Calibri"/>
                  <a:ea typeface="Calibri"/>
                  <a:cs typeface="Calibri"/>
                  <a:sym typeface="Calibri"/>
                </a:rPr>
                <a:t>Dual-key TN stayed 0.499 on BOTH datasets — it never false-detects. Precision is bought at the cost of missed detections once both signals cannot survive together.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2" name="Google Shape;302;p13" descr="icon_shield_FFFF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73952" y="5074920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13"/>
            <p:cNvSpPr txBox="1"/>
            <p:nvPr/>
          </p:nvSpPr>
          <p:spPr>
            <a:xfrm>
              <a:off x="6949440" y="502920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2C3FF"/>
                </a:buClr>
                <a:buSzPts val="1250"/>
                <a:buFont typeface="Arial"/>
                <a:buNone/>
              </a:pPr>
              <a:r>
                <a:rPr lang="en-US" sz="1250" b="1" i="0" u="none" strike="noStrike" cap="none">
                  <a:solidFill>
                    <a:srgbClr val="22C3FF"/>
                  </a:solidFill>
                  <a:latin typeface="Arial"/>
                  <a:ea typeface="Arial"/>
                  <a:cs typeface="Arial"/>
                  <a:sym typeface="Arial"/>
                </a:rPr>
                <a:t>Zero false positives, always — the precision promise held.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3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3" title="Screenshot_20260920_132435_GitHub.jpg"/>
          <p:cNvPicPr preferRelativeResize="0"/>
          <p:nvPr/>
        </p:nvPicPr>
        <p:blipFill rotWithShape="1">
          <a:blip r:embed="rId6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4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IMPLICATIONS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A design space, not a winner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lesson generalises to any multi-key AND scheme. The choice of detection logic should match the expected attack strength.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88117-F297-79C5-4F80-12148DCE960D}"/>
              </a:ext>
            </a:extLst>
          </p:cNvPr>
          <p:cNvGrpSpPr/>
          <p:nvPr/>
        </p:nvGrpSpPr>
        <p:grpSpPr>
          <a:xfrm>
            <a:off x="457200" y="2286000"/>
            <a:ext cx="3566160" cy="3291840"/>
            <a:chOff x="457200" y="2286000"/>
            <a:chExt cx="3566160" cy="3291840"/>
          </a:xfrm>
        </p:grpSpPr>
        <p:sp>
          <p:nvSpPr>
            <p:cNvPr id="316" name="Google Shape;316;p14"/>
            <p:cNvSpPr/>
            <p:nvPr/>
          </p:nvSpPr>
          <p:spPr>
            <a:xfrm>
              <a:off x="457200" y="2286000"/>
              <a:ext cx="3566160" cy="329184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731520" y="2560320"/>
              <a:ext cx="658368" cy="658368"/>
            </a:xfrm>
            <a:prstGeom prst="roundRect">
              <a:avLst>
                <a:gd name="adj" fmla="val 14000"/>
              </a:avLst>
            </a:prstGeom>
            <a:solidFill>
              <a:srgbClr val="FFF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8" name="Google Shape;318;p14" descr="icon_lock_E8A020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9777" y="2698577"/>
              <a:ext cx="381853" cy="381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14"/>
            <p:cNvSpPr txBox="1"/>
            <p:nvPr/>
          </p:nvSpPr>
          <p:spPr>
            <a:xfrm>
              <a:off x="1554480" y="2560320"/>
              <a:ext cx="237744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700"/>
                <a:buFont typeface="Arial"/>
                <a:buNone/>
              </a:pPr>
              <a:r>
                <a:rPr lang="en-US" sz="1700" b="1" i="0" u="none" strike="noStrike" cap="none" dirty="0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AND condition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 txBox="1"/>
            <p:nvPr/>
          </p:nvSpPr>
          <p:spPr>
            <a:xfrm>
              <a:off x="731520" y="3337560"/>
              <a:ext cx="30175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A020"/>
                </a:buClr>
                <a:buSzPts val="1200"/>
                <a:buFont typeface="Consolas"/>
                <a:buNone/>
              </a:pPr>
              <a:r>
                <a:rPr lang="en-US" sz="1200" b="1" i="0" u="none" strike="noStrike" cap="none">
                  <a:solidFill>
                    <a:srgbClr val="E8A020"/>
                  </a:solidFill>
                  <a:latin typeface="Consolas"/>
                  <a:ea typeface="Consolas"/>
                  <a:cs typeface="Consolas"/>
                  <a:sym typeface="Consolas"/>
                </a:rPr>
                <a:t>Two keys must pass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731520" y="3703320"/>
              <a:ext cx="3063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Lowest FP (0.45%) · brittle under strong attack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731520" y="4937760"/>
              <a:ext cx="3017520" cy="457200"/>
            </a:xfrm>
            <a:prstGeom prst="roundRect">
              <a:avLst>
                <a:gd name="adj" fmla="val 12000"/>
              </a:avLst>
            </a:prstGeom>
            <a:solidFill>
              <a:srgbClr val="FFF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4"/>
            <p:cNvSpPr txBox="1"/>
            <p:nvPr/>
          </p:nvSpPr>
          <p:spPr>
            <a:xfrm>
              <a:off x="731520" y="4937760"/>
              <a:ext cx="3017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E8A02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E8A020"/>
                  </a:solidFill>
                  <a:latin typeface="Arial"/>
                  <a:ea typeface="Arial"/>
                  <a:cs typeface="Arial"/>
                  <a:sym typeface="Arial"/>
                </a:rPr>
                <a:t>Best for mild / no attack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221FE3-08D4-503D-84F7-77051C0F7282}"/>
              </a:ext>
            </a:extLst>
          </p:cNvPr>
          <p:cNvGrpSpPr/>
          <p:nvPr/>
        </p:nvGrpSpPr>
        <p:grpSpPr>
          <a:xfrm>
            <a:off x="4251960" y="2286000"/>
            <a:ext cx="3566160" cy="3291840"/>
            <a:chOff x="4251960" y="2286000"/>
            <a:chExt cx="3566160" cy="3291840"/>
          </a:xfrm>
        </p:grpSpPr>
        <p:sp>
          <p:nvSpPr>
            <p:cNvPr id="324" name="Google Shape;324;p14"/>
            <p:cNvSpPr/>
            <p:nvPr/>
          </p:nvSpPr>
          <p:spPr>
            <a:xfrm>
              <a:off x="4251960" y="2286000"/>
              <a:ext cx="3566160" cy="329184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4526280" y="2560320"/>
              <a:ext cx="658368" cy="658368"/>
            </a:xfrm>
            <a:prstGeom prst="roundRect">
              <a:avLst>
                <a:gd name="adj" fmla="val 14000"/>
              </a:avLst>
            </a:prstGeom>
            <a:solidFill>
              <a:srgbClr val="E6F6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6" name="Google Shape;326;p14" descr="icon_share_1E9E5A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664537" y="2698577"/>
              <a:ext cx="381853" cy="381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4"/>
            <p:cNvSpPr txBox="1"/>
            <p:nvPr/>
          </p:nvSpPr>
          <p:spPr>
            <a:xfrm>
              <a:off x="5349240" y="2560320"/>
              <a:ext cx="237744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700"/>
                <a:buFont typeface="Arial"/>
                <a:buNone/>
              </a:pPr>
              <a:r>
                <a:rPr lang="en-US" sz="17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OR condition</a:t>
              </a:r>
              <a:endPara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 txBox="1"/>
            <p:nvPr/>
          </p:nvSpPr>
          <p:spPr>
            <a:xfrm>
              <a:off x="4526280" y="3337560"/>
              <a:ext cx="30175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1200"/>
                <a:buFont typeface="Consolas"/>
                <a:buNone/>
              </a:pPr>
              <a:r>
                <a:rPr lang="en-US" sz="1200" b="1" i="0" u="none" strike="noStrike" cap="none">
                  <a:solidFill>
                    <a:srgbClr val="1E9E5A"/>
                  </a:solidFill>
                  <a:latin typeface="Consolas"/>
                  <a:ea typeface="Consolas"/>
                  <a:cs typeface="Consolas"/>
                  <a:sym typeface="Consolas"/>
                </a:rPr>
                <a:t>Either key suffices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4"/>
            <p:cNvSpPr txBox="1"/>
            <p:nvPr/>
          </p:nvSpPr>
          <p:spPr>
            <a:xfrm>
              <a:off x="4526280" y="3703320"/>
              <a:ext cx="3063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More robust · higher FP (≈12.9%)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4526280" y="4937760"/>
              <a:ext cx="3017520" cy="457200"/>
            </a:xfrm>
            <a:prstGeom prst="roundRect">
              <a:avLst>
                <a:gd name="adj" fmla="val 12000"/>
              </a:avLst>
            </a:prstGeom>
            <a:solidFill>
              <a:srgbClr val="E6F6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 txBox="1"/>
            <p:nvPr/>
          </p:nvSpPr>
          <p:spPr>
            <a:xfrm>
              <a:off x="4526280" y="4937760"/>
              <a:ext cx="3017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9E5A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1E9E5A"/>
                  </a:solidFill>
                  <a:latin typeface="Arial"/>
                  <a:ea typeface="Arial"/>
                  <a:cs typeface="Arial"/>
                  <a:sym typeface="Arial"/>
                </a:rPr>
                <a:t>Best when robustness dominates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D6BD84D-F5AC-8491-6D22-C3B9F3AC26DB}"/>
              </a:ext>
            </a:extLst>
          </p:cNvPr>
          <p:cNvGrpSpPr/>
          <p:nvPr/>
        </p:nvGrpSpPr>
        <p:grpSpPr>
          <a:xfrm>
            <a:off x="8046720" y="2286000"/>
            <a:ext cx="3566160" cy="3291840"/>
            <a:chOff x="8046720" y="2286000"/>
            <a:chExt cx="3566160" cy="3291840"/>
          </a:xfrm>
        </p:grpSpPr>
        <p:sp>
          <p:nvSpPr>
            <p:cNvPr id="332" name="Google Shape;332;p14"/>
            <p:cNvSpPr/>
            <p:nvPr/>
          </p:nvSpPr>
          <p:spPr>
            <a:xfrm>
              <a:off x="8046720" y="2286000"/>
              <a:ext cx="3566160" cy="329184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8321040" y="2560320"/>
              <a:ext cx="658368" cy="658368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4" name="Google Shape;334;p14" descr="icon_sliders_1E6B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459297" y="2698577"/>
              <a:ext cx="381853" cy="381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4"/>
            <p:cNvSpPr txBox="1"/>
            <p:nvPr/>
          </p:nvSpPr>
          <p:spPr>
            <a:xfrm>
              <a:off x="9144000" y="2560320"/>
              <a:ext cx="237744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700"/>
                <a:buFont typeface="Arial"/>
                <a:buNone/>
              </a:pPr>
              <a:r>
                <a:rPr lang="en-US" sz="1700" b="1" i="0" u="none" strike="noStrike" cap="none">
                  <a:solidFill>
                    <a:srgbClr val="0D1117"/>
                  </a:solidFill>
                  <a:latin typeface="Arial"/>
                  <a:ea typeface="Arial"/>
                  <a:cs typeface="Arial"/>
                  <a:sym typeface="Arial"/>
                </a:rPr>
                <a:t>Hybrid</a:t>
              </a:r>
              <a:endPara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4"/>
            <p:cNvSpPr txBox="1"/>
            <p:nvPr/>
          </p:nvSpPr>
          <p:spPr>
            <a:xfrm>
              <a:off x="8321040" y="3337560"/>
              <a:ext cx="30175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6BFF"/>
                </a:buClr>
                <a:buSzPts val="1200"/>
                <a:buFont typeface="Consolas"/>
                <a:buNone/>
              </a:pPr>
              <a:r>
                <a:rPr lang="en-US" sz="1200" b="1" i="0" u="none" strike="noStrike" cap="none">
                  <a:solidFill>
                    <a:srgbClr val="1E6BFF"/>
                  </a:solidFill>
                  <a:latin typeface="Consolas"/>
                  <a:ea typeface="Consolas"/>
                  <a:cs typeface="Consolas"/>
                  <a:sym typeface="Consolas"/>
                </a:rPr>
                <a:t>AND at lower threshold, or switch to OR on a very high Z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 txBox="1"/>
            <p:nvPr/>
          </p:nvSpPr>
          <p:spPr>
            <a:xfrm>
              <a:off x="8321040" y="3703320"/>
              <a:ext cx="30632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472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Recovers detection without losing all precision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8321040" y="4937760"/>
              <a:ext cx="3017520" cy="457200"/>
            </a:xfrm>
            <a:prstGeom prst="roundRect">
              <a:avLst>
                <a:gd name="adj" fmla="val 12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8321040" y="4937760"/>
              <a:ext cx="30175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6BF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1E6BFF"/>
                  </a:solidFill>
                  <a:latin typeface="Arial"/>
                  <a:ea typeface="Arial"/>
                  <a:cs typeface="Arial"/>
                  <a:sym typeface="Arial"/>
                </a:rPr>
                <a:t>A promising middle ground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14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14" title="Screenshot_20260920_132435_GitHub.jpg"/>
          <p:cNvPicPr preferRelativeResize="0"/>
          <p:nvPr/>
        </p:nvPicPr>
        <p:blipFill rotWithShape="1">
          <a:blip r:embed="rId8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15" descr="bull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4572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5"/>
          <p:cNvSpPr txBox="1"/>
          <p:nvPr/>
        </p:nvSpPr>
        <p:spPr>
          <a:xfrm>
            <a:off x="786384" y="4572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457200" y="768096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D1117"/>
                </a:solidFill>
                <a:latin typeface="Arial"/>
                <a:ea typeface="Arial"/>
                <a:cs typeface="Arial"/>
                <a:sym typeface="Arial"/>
              </a:rPr>
              <a:t>What to take away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9FC48-8411-9E1C-1B94-4EF6B4498E95}"/>
              </a:ext>
            </a:extLst>
          </p:cNvPr>
          <p:cNvGrpSpPr/>
          <p:nvPr/>
        </p:nvGrpSpPr>
        <p:grpSpPr>
          <a:xfrm>
            <a:off x="457200" y="1737360"/>
            <a:ext cx="7040880" cy="932688"/>
            <a:chOff x="457200" y="1737360"/>
            <a:chExt cx="7040880" cy="932688"/>
          </a:xfrm>
        </p:grpSpPr>
        <p:sp>
          <p:nvSpPr>
            <p:cNvPr id="351" name="Google Shape;351;p15"/>
            <p:cNvSpPr/>
            <p:nvPr/>
          </p:nvSpPr>
          <p:spPr>
            <a:xfrm>
              <a:off x="457200" y="1737360"/>
              <a:ext cx="7040880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685800" y="1911096"/>
              <a:ext cx="585216" cy="585216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3" name="Google Shape;353;p15" descr="icon_key_1E6BFF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8695" y="2033991"/>
              <a:ext cx="339425" cy="33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5"/>
            <p:cNvSpPr txBox="1"/>
            <p:nvPr/>
          </p:nvSpPr>
          <p:spPr>
            <a:xfrm>
              <a:off x="1417320" y="1737360"/>
              <a:ext cx="5943600" cy="932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150"/>
                <a:buFont typeface="Calibri"/>
                <a:buNone/>
              </a:pPr>
              <a:r>
                <a:rPr lang="en-US" sz="1150" b="1" i="0" u="none" strike="noStrike" cap="none">
                  <a:solidFill>
                    <a:srgbClr val="0D1117"/>
                  </a:solidFill>
                  <a:latin typeface="Calibri"/>
                  <a:ea typeface="Calibri"/>
                  <a:cs typeface="Calibri"/>
                  <a:sym typeface="Calibri"/>
                </a:rPr>
                <a:t>Two design choices  </a:t>
              </a:r>
              <a:r>
                <a:rPr lang="en-US" sz="11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Type-level Z-test detection + a dual-key AND criterion, over cryptographic HMAC synonym substitution.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18919F5-57E0-CB92-52D4-4E3F8201894F}"/>
              </a:ext>
            </a:extLst>
          </p:cNvPr>
          <p:cNvGrpSpPr/>
          <p:nvPr/>
        </p:nvGrpSpPr>
        <p:grpSpPr>
          <a:xfrm>
            <a:off x="457200" y="2816352"/>
            <a:ext cx="7040880" cy="932688"/>
            <a:chOff x="457200" y="2816352"/>
            <a:chExt cx="7040880" cy="932688"/>
          </a:xfrm>
        </p:grpSpPr>
        <p:sp>
          <p:nvSpPr>
            <p:cNvPr id="355" name="Google Shape;355;p15"/>
            <p:cNvSpPr/>
            <p:nvPr/>
          </p:nvSpPr>
          <p:spPr>
            <a:xfrm>
              <a:off x="457200" y="2816352"/>
              <a:ext cx="7040880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685800" y="2990088"/>
              <a:ext cx="585216" cy="585216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7" name="Google Shape;357;p15" descr="icon_activity_1E6BFF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8695" y="3112983"/>
              <a:ext cx="339425" cy="33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15"/>
            <p:cNvSpPr txBox="1"/>
            <p:nvPr/>
          </p:nvSpPr>
          <p:spPr>
            <a:xfrm>
              <a:off x="1417320" y="2816352"/>
              <a:ext cx="5943600" cy="932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150"/>
                <a:buFont typeface="Calibri"/>
                <a:buNone/>
              </a:pPr>
              <a:r>
                <a:rPr lang="en-US" sz="1150" b="1" i="0" u="none" strike="noStrike" cap="none">
                  <a:solidFill>
                    <a:srgbClr val="0D1117"/>
                  </a:solidFill>
                  <a:latin typeface="Calibri"/>
                  <a:ea typeface="Calibri"/>
                  <a:cs typeface="Calibri"/>
                  <a:sym typeface="Calibri"/>
                </a:rPr>
                <a:t>A characterised trade-off  </a:t>
              </a:r>
              <a:r>
                <a:rPr lang="en-US" sz="1150" b="0" i="0" u="none" strike="noStrike" cap="none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Dual-key cuts FP 15× (6.7% → 0.45%) but is brittle: TWF 0.971 spot-check vs 0.734 official.</a:t>
              </a:r>
              <a:endParaRPr sz="11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426215F-A077-9149-D88D-2885F14EF0AA}"/>
              </a:ext>
            </a:extLst>
          </p:cNvPr>
          <p:cNvGrpSpPr/>
          <p:nvPr/>
        </p:nvGrpSpPr>
        <p:grpSpPr>
          <a:xfrm>
            <a:off x="457200" y="3895344"/>
            <a:ext cx="7040880" cy="932688"/>
            <a:chOff x="457200" y="3895344"/>
            <a:chExt cx="7040880" cy="932688"/>
          </a:xfrm>
        </p:grpSpPr>
        <p:sp>
          <p:nvSpPr>
            <p:cNvPr id="359" name="Google Shape;359;p15"/>
            <p:cNvSpPr/>
            <p:nvPr/>
          </p:nvSpPr>
          <p:spPr>
            <a:xfrm>
              <a:off x="457200" y="3895344"/>
              <a:ext cx="7040880" cy="932688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2700" cap="flat" cmpd="sng">
              <a:solidFill>
                <a:srgbClr val="E3E9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85800" y="4069080"/>
              <a:ext cx="585216" cy="585216"/>
            </a:xfrm>
            <a:prstGeom prst="roundRect">
              <a:avLst>
                <a:gd name="adj" fmla="val 14000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1" name="Google Shape;361;p15" descr="icon_sliders_1E6BFF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08695" y="4191975"/>
              <a:ext cx="339425" cy="33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15"/>
            <p:cNvSpPr txBox="1"/>
            <p:nvPr/>
          </p:nvSpPr>
          <p:spPr>
            <a:xfrm>
              <a:off x="1417320" y="3895344"/>
              <a:ext cx="5943600" cy="9326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117"/>
                </a:buClr>
                <a:buSzPts val="1150"/>
                <a:buFont typeface="Calibri"/>
                <a:buNone/>
              </a:pPr>
              <a:r>
                <a:rPr lang="en-US" sz="1150" b="1" i="0" u="none" strike="noStrike" cap="none" dirty="0">
                  <a:solidFill>
                    <a:srgbClr val="0D1117"/>
                  </a:solidFill>
                  <a:latin typeface="Calibri"/>
                  <a:ea typeface="Calibri"/>
                  <a:cs typeface="Calibri"/>
                  <a:sym typeface="Calibri"/>
                </a:rPr>
                <a:t>Single-key won official  </a:t>
              </a:r>
              <a:r>
                <a:rPr lang="en-US" sz="1150" b="0" i="0" u="none" strike="noStrike" cap="none" dirty="0">
                  <a:solidFill>
                    <a:srgbClr val="5A6472"/>
                  </a:solidFill>
                  <a:latin typeface="Calibri"/>
                  <a:ea typeface="Calibri"/>
                  <a:cs typeface="Calibri"/>
                  <a:sym typeface="Calibri"/>
                </a:rPr>
                <a:t>Best official TWF 0.775 — only one signal must survive, so it is structurally more robust.</a:t>
              </a:r>
              <a:endParaRPr sz="11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41B7A0B-C71D-2471-E987-4E247F0C4755}"/>
              </a:ext>
            </a:extLst>
          </p:cNvPr>
          <p:cNvGrpSpPr/>
          <p:nvPr/>
        </p:nvGrpSpPr>
        <p:grpSpPr>
          <a:xfrm>
            <a:off x="7680960" y="1737360"/>
            <a:ext cx="4050792" cy="3236976"/>
            <a:chOff x="7680960" y="1737360"/>
            <a:chExt cx="4050792" cy="3236976"/>
          </a:xfrm>
        </p:grpSpPr>
        <p:sp>
          <p:nvSpPr>
            <p:cNvPr id="363" name="Google Shape;363;p15"/>
            <p:cNvSpPr/>
            <p:nvPr/>
          </p:nvSpPr>
          <p:spPr>
            <a:xfrm>
              <a:off x="7680960" y="1737360"/>
              <a:ext cx="4050792" cy="3236976"/>
            </a:xfrm>
            <a:prstGeom prst="roundRect">
              <a:avLst>
                <a:gd name="adj" fmla="val 2825"/>
              </a:avLst>
            </a:prstGeom>
            <a:solidFill>
              <a:srgbClr val="0D11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4" name="Google Shape;364;p15" descr="icon_arrowRight_FFFFFF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955280" y="2011680"/>
              <a:ext cx="384048" cy="384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15"/>
            <p:cNvSpPr txBox="1"/>
            <p:nvPr/>
          </p:nvSpPr>
          <p:spPr>
            <a:xfrm>
              <a:off x="8430768" y="2002536"/>
              <a:ext cx="3108960" cy="384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2C3FF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22C3FF"/>
                  </a:solidFill>
                  <a:latin typeface="Arial"/>
                  <a:ea typeface="Arial"/>
                  <a:cs typeface="Arial"/>
                  <a:sym typeface="Arial"/>
                </a:rPr>
                <a:t>FUTURE WORK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2B33EEC-05AC-A6F5-E370-682B6674BB8C}"/>
              </a:ext>
            </a:extLst>
          </p:cNvPr>
          <p:cNvGrpSpPr/>
          <p:nvPr/>
        </p:nvGrpSpPr>
        <p:grpSpPr>
          <a:xfrm>
            <a:off x="7955280" y="2688336"/>
            <a:ext cx="3566160" cy="749808"/>
            <a:chOff x="7955280" y="2688336"/>
            <a:chExt cx="3566160" cy="749808"/>
          </a:xfrm>
        </p:grpSpPr>
        <p:pic>
          <p:nvPicPr>
            <p:cNvPr id="366" name="Google Shape;366;p15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955280" y="2761488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15"/>
            <p:cNvSpPr txBox="1"/>
            <p:nvPr/>
          </p:nvSpPr>
          <p:spPr>
            <a:xfrm>
              <a:off x="8284464" y="2688336"/>
              <a:ext cx="3236976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 dirty="0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Hybrid AND/OR detection logic</a:t>
              </a:r>
              <a:endParaRPr sz="12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A433D4-9506-4631-D061-33030FB4A84B}"/>
              </a:ext>
            </a:extLst>
          </p:cNvPr>
          <p:cNvGrpSpPr/>
          <p:nvPr/>
        </p:nvGrpSpPr>
        <p:grpSpPr>
          <a:xfrm>
            <a:off x="7955280" y="3438144"/>
            <a:ext cx="3566160" cy="749808"/>
            <a:chOff x="7955280" y="3438144"/>
            <a:chExt cx="3566160" cy="749808"/>
          </a:xfrm>
        </p:grpSpPr>
        <p:pic>
          <p:nvPicPr>
            <p:cNvPr id="368" name="Google Shape;368;p15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955280" y="3511296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5"/>
            <p:cNvSpPr txBox="1"/>
            <p:nvPr/>
          </p:nvSpPr>
          <p:spPr>
            <a:xfrm>
              <a:off x="8284464" y="3438144"/>
              <a:ext cx="3236976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Higher embedding targets (3.0–3.5) for more margin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E108908-A22B-4AE2-30EA-144953353005}"/>
              </a:ext>
            </a:extLst>
          </p:cNvPr>
          <p:cNvGrpSpPr/>
          <p:nvPr/>
        </p:nvGrpSpPr>
        <p:grpSpPr>
          <a:xfrm>
            <a:off x="7955280" y="4187952"/>
            <a:ext cx="3566160" cy="749808"/>
            <a:chOff x="7955280" y="4187952"/>
            <a:chExt cx="3566160" cy="749808"/>
          </a:xfrm>
        </p:grpSpPr>
        <p:pic>
          <p:nvPicPr>
            <p:cNvPr id="370" name="Google Shape;370;p15" descr="bullet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955280" y="4261104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15"/>
            <p:cNvSpPr txBox="1"/>
            <p:nvPr/>
          </p:nvSpPr>
          <p:spPr>
            <a:xfrm>
              <a:off x="8284464" y="4187952"/>
              <a:ext cx="3236976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5DEEC"/>
                </a:buClr>
                <a:buSzPts val="1250"/>
                <a:buFont typeface="Calibri"/>
                <a:buNone/>
              </a:pPr>
              <a:r>
                <a:rPr lang="en-US" sz="1250" b="0" i="0" u="none" strike="noStrike" cap="none">
                  <a:solidFill>
                    <a:srgbClr val="D5DEEC"/>
                  </a:solidFill>
                  <a:latin typeface="Calibri"/>
                  <a:ea typeface="Calibri"/>
                  <a:cs typeface="Calibri"/>
                  <a:sym typeface="Calibri"/>
                </a:rPr>
                <a:t>Richer synonym sources beyond WordNet + BERT-LS</a:t>
              </a:r>
              <a:endParaRPr sz="12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D57F79-C470-B8BB-B182-CC677EA3B0D0}"/>
              </a:ext>
            </a:extLst>
          </p:cNvPr>
          <p:cNvGrpSpPr/>
          <p:nvPr/>
        </p:nvGrpSpPr>
        <p:grpSpPr>
          <a:xfrm>
            <a:off x="457200" y="5166360"/>
            <a:ext cx="11274552" cy="566928"/>
            <a:chOff x="457200" y="5166360"/>
            <a:chExt cx="11274552" cy="566928"/>
          </a:xfrm>
        </p:grpSpPr>
        <p:sp>
          <p:nvSpPr>
            <p:cNvPr id="372" name="Google Shape;372;p15"/>
            <p:cNvSpPr/>
            <p:nvPr/>
          </p:nvSpPr>
          <p:spPr>
            <a:xfrm>
              <a:off x="457200" y="5166360"/>
              <a:ext cx="11274552" cy="566928"/>
            </a:xfrm>
            <a:prstGeom prst="roundRect">
              <a:avLst>
                <a:gd name="adj" fmla="val 12903"/>
              </a:avLst>
            </a:prstGeom>
            <a:solidFill>
              <a:srgbClr val="EA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3" name="Google Shape;373;p15" descr="icon_git_1E6BFF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85800" y="5294376"/>
              <a:ext cx="310896" cy="310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15"/>
            <p:cNvSpPr txBox="1"/>
            <p:nvPr/>
          </p:nvSpPr>
          <p:spPr>
            <a:xfrm>
              <a:off x="1097280" y="5166360"/>
              <a:ext cx="10424160" cy="566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E6BFF"/>
                </a:buClr>
                <a:buSzPts val="1200"/>
                <a:buFont typeface="Consolas"/>
                <a:buNone/>
              </a:pPr>
              <a:r>
                <a:rPr lang="en-US" sz="1200" b="1" i="0" u="none" strike="noStrike" cap="none">
                  <a:solidFill>
                    <a:srgbClr val="1E6BFF"/>
                  </a:solidFill>
                  <a:latin typeface="Consolas"/>
                  <a:ea typeface="Consolas"/>
                  <a:cs typeface="Consolas"/>
                  <a:sym typeface="Consolas"/>
                </a:rPr>
                <a:t>github.com/Momen-Ibrahim-Fawzy/posthoc-dualkey-watermarking--PAN2026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5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6B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E6B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5" title="Screenshot_20260920_132435_GitHub.jpg"/>
          <p:cNvPicPr preferRelativeResize="0"/>
          <p:nvPr/>
        </p:nvPicPr>
        <p:blipFill rotWithShape="1">
          <a:blip r:embed="rId10">
            <a:alphaModFix/>
          </a:blip>
          <a:srcRect t="34774" b="38054"/>
          <a:stretch/>
        </p:blipFill>
        <p:spPr>
          <a:xfrm>
            <a:off x="9281150" y="137175"/>
            <a:ext cx="2713201" cy="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5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"/>
          <p:cNvSpPr txBox="1"/>
          <p:nvPr/>
        </p:nvSpPr>
        <p:spPr>
          <a:xfrm>
            <a:off x="0" y="223012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Thank You</a:t>
            </a:r>
            <a:endParaRPr kumimoji="0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 txBox="1"/>
          <p:nvPr/>
        </p:nvSpPr>
        <p:spPr>
          <a:xfrm>
            <a:off x="0" y="3144520"/>
            <a:ext cx="6492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C3FF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2C3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Questions welcome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 txBox="1"/>
          <p:nvPr/>
        </p:nvSpPr>
        <p:spPr>
          <a:xfrm>
            <a:off x="0" y="405892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C4D6"/>
              </a:buClr>
              <a:buSzPts val="1300"/>
              <a:buFont typeface="Calibri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B8C4D6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Momen Ibrahim  ·  es-momen.ibrahim2019@alexu.edu.eg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p20"/>
          <p:cNvPicPr preferRelativeResize="0"/>
          <p:nvPr/>
        </p:nvPicPr>
        <p:blipFill rotWithShape="1">
          <a:blip r:embed="rId4">
            <a:alphaModFix/>
          </a:blip>
          <a:srcRect t="35373" b="30384"/>
          <a:stretch/>
        </p:blipFill>
        <p:spPr>
          <a:xfrm>
            <a:off x="9281151" y="137175"/>
            <a:ext cx="2713196" cy="4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0"/>
          <p:cNvPicPr preferRelativeResize="0"/>
          <p:nvPr/>
        </p:nvPicPr>
        <p:blipFill>
          <a:blip r:embed="rId5">
            <a:alphaModFix/>
          </a:blip>
          <a:srcRect l="2492" r="2492"/>
          <a:stretch/>
        </p:blipFill>
        <p:spPr>
          <a:xfrm>
            <a:off x="7581276" y="797926"/>
            <a:ext cx="3399750" cy="44975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385" name="Google Shape;385;p16"/>
          <p:cNvCxnSpPr/>
          <p:nvPr/>
        </p:nvCxnSpPr>
        <p:spPr>
          <a:xfrm>
            <a:off x="1740310" y="3763297"/>
            <a:ext cx="3047695" cy="0"/>
          </a:xfrm>
          <a:prstGeom prst="straightConnector1">
            <a:avLst/>
          </a:prstGeom>
          <a:noFill/>
          <a:ln w="12700" cap="flat" cmpd="sng">
            <a:solidFill>
              <a:srgbClr val="2A35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375;p15">
            <a:extLst>
              <a:ext uri="{FF2B5EF4-FFF2-40B4-BE49-F238E27FC236}">
                <a16:creationId xmlns:a16="http://schemas.microsoft.com/office/drawing/2014/main" id="{E309069F-9173-17E8-1D26-EF17FBDD0AE3}"/>
              </a:ext>
            </a:extLst>
          </p:cNvPr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8A93A0"/>
                </a:solidFill>
                <a:latin typeface="Calibri"/>
                <a:ea typeface="Calibri"/>
                <a:cs typeface="Calibri"/>
                <a:sym typeface="Calibri"/>
              </a:rPr>
              <a:t>Post-Hoc Synonym Watermarking  ·  PAN@CLEF 2026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" grpId="0"/>
      <p:bldP spid="544" grpId="0"/>
      <p:bldP spid="5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1282</Words>
  <Application>Microsoft Office PowerPoint</Application>
  <PresentationFormat>Widescreen</PresentationFormat>
  <Paragraphs>176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Momen Ibrahim</cp:lastModifiedBy>
  <cp:revision>16</cp:revision>
  <dcterms:modified xsi:type="dcterms:W3CDTF">2026-09-23T13:38:33Z</dcterms:modified>
</cp:coreProperties>
</file>